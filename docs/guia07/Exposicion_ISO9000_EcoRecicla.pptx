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6694f6ec-f96e-b2c0-8527-56e646b71c9b}">
          <p14:sldIdLst>
            <p14:sldId id="256"/>
          </p14:sldIdLst>
        </p14:section>
        <p14:section name="Estándares de calidad" id="{8fb90292-ff19-d380-939b-c1495d75c10a}">
          <p14:sldIdLst>
            <p14:sldId id="257"/>
            <p14:sldId id="258"/>
            <p14:sldId id="259"/>
            <p14:sldId id="260"/>
            <p14:sldId id="261"/>
          </p14:sldIdLst>
        </p14:section>
        <p14:section name="Aplicación en EcoRecicla" id="{1af011a3-f72a-1c64-5aee-c82f94fd3c96}">
          <p14:sldIdLst>
            <p14:sldId id="262"/>
            <p14:sldId id="263"/>
            <p14:sldId id="264"/>
          </p14:sldIdLst>
        </p14:section>
        <p14:section name="Cierre" id="{61206dc2-f024-89ce-d21e-6114f62ad9d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4D3A"/>
                </a:solidFill>
                <a:latin typeface="+mn-lt"/>
              </a:defRPr>
            </a:pPr>
            <a:r>
              <a:rPr sz="1300" b="0" i="0" u="none" strike="noStrike">
                <a:solidFill>
                  <a:srgbClr val="1F4D3A"/>
                </a:solidFill>
                <a:latin typeface="+mn-lt"/>
              </a:rPr>
              <a:t>Casos fallidos en GitHub Actions (MySQL 8)</a:t>
            </a:r>
          </a:p>
        </c:rich>
      </c:tx>
      <c:layout/>
      <c:overlay val="0"/>
    </c:title>
    <c:autoTitleDeleted val="0"/>
    <c:plotArea>
      <c:layout/>
      <c:barChart>
        <c:barDir val="col"/>
        <c:grouping val="clustered"/>
        <c:varyColors val="0"/>
        <c:ser>
          <c:idx val="0"/>
          <c:order val="0"/>
          <c:tx>
            <c:strRef>
              <c:f>Sheet1!$B$1</c:f>
              <c:strCache>
                <c:ptCount val="1"/>
                <c:pt idx="0">
                  <c:v>Casos fallidos</c:v>
                </c:pt>
              </c:strCache>
            </c:strRef>
          </c:tx>
          <c:spPr>
            <a:solidFill>
              <a:srgbClr val="2E7D57"/>
            </a:solidFill>
            <a:effectLst/>
          </c:spPr>
          <c:invertIfNegative val="0"/>
          <c:dLbls>
            <c:numFmt formatCode="#,##0" sourceLinked="0"/>
            <c:txPr>
              <a:bodyPr/>
              <a:lstStyle/>
              <a:p>
                <a:pPr>
                  <a:defRPr b="0" i="0" strike="noStrike" sz="1400" u="none">
                    <a:solidFill>
                      <a:srgbClr val="1E2A24"/>
                    </a:solidFill>
                    <a:latin typeface="+mn-lt"/>
                  </a:defRPr>
                </a:pPr>
              </a:p>
            </c:txPr>
            <c:showLegendKey val="0"/>
            <c:showVal val="1"/>
            <c:showCatName val="0"/>
            <c:showSerName val="0"/>
            <c:showPercent val="0"/>
            <c:showBubbleSize val="0"/>
            <c:showLeaderLines val="0"/>
          </c:dLbls>
          <c:cat>
            <c:multiLvlStrRef>
              <c:f>Sheet1!$A$2:$A$4</c:f>
              <c:multiLvlStrCache>
                <c:ptCount val="3"/>
                <c:lvl>
                  <c:pt idx="0">
                    <c:v>Suite nueva</c:v>
                  </c:pt>
                  <c:pt idx="1">
                    <c:v>Tras PR #10</c:v>
                  </c:pt>
                  <c:pt idx="2">
                    <c:v>Tras PR #11</c:v>
                  </c:pt>
                </c:lvl>
              </c:multiLvlStrCache>
            </c:multiLvlStrRef>
          </c:cat>
          <c:val>
            <c:numRef>
              <c:f>Sheet1!$B$2:$B$4</c:f>
              <c:numCache>
                <c:formatCode>General</c:formatCode>
                <c:ptCount val="3"/>
                <c:pt idx="0">
                  <c:v>10</c:v>
                </c:pt>
                <c:pt idx="1">
                  <c:v>4</c:v>
                </c:pt>
                <c:pt idx="2">
                  <c:v>0</c:v>
                </c:pt>
              </c:numCache>
            </c:numRef>
          </c:val>
        </c:ser>
        <c:dLbls>
          <c:numFmt formatCode="#,##0" sourceLinked="0"/>
          <c:txPr>
            <a:bodyPr/>
            <a:lstStyle/>
            <a:p>
              <a:pPr>
                <a:defRPr b="0" i="0" strike="noStrike" sz="1400" u="none">
                  <a:solidFill>
                    <a:srgbClr val="1E2A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3"/>
                </a:solidFill>
                <a:latin typeface="+mn-lt"/>
              </a:defRPr>
            </a:pPr>
            <a:endParaRPr lang="en-US"/>
          </a:p>
        </c:txPr>
        <c:crossAx val="2094734552"/>
        <c:crosses val="autoZero"/>
        <c:auto val="1"/>
        <c:lblAlgn val="ctr"/>
        <c:noMultiLvlLbl val="1"/>
      </c:catAx>
      <c:valAx>
        <c:axId val="2094734552"/>
        <c:scaling>
          <c:orientation val="minMax"/>
          <c:max val="12"/>
        </c:scaling>
        <c:delete val="0"/>
        <c:axPos val="l"/>
        <c:majorGridlines>
          <c:spPr>
            <a:ln w="6350" cap="flat">
              <a:solidFill>
                <a:srgbClr val="DDE7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Vamos a presentar la familia de normas ISO 9000 y cómo la llevamos a la práctica en EcoRecicla, nuestro proyecto de semestre: una aplicación web para registrar el reciclaje en Bogotá. La exposición tiene tres partes: qué dice la norma, cómo evolucionó y qué hicimos con ella en el proyecto, con datos reales de nuestro repositorio. Duración: unos 15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estándar de calidad es un acuerdo internacional sobre la mejor forma conocida de hacer algo. En software conviene verlos en tres niveles. El primero es la organización: ISO 9001 o CMMI certifican cómo trabaja la empresa. El segundo es el producto: ISO/IEC 25010 define qué es un software de calidad. El tercero son las pruebas: ISO/IEC/IEEE 29119 dice cómo documentar la evidencia. Hoy nos centramos en el primer nivel, la familia ISO 9000, y mostramos cómo se conecta con los otros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familia tiene varias normas, pero solo una es certificable: ISO 9001. ISO 9000 no tiene requisitos; da los principios y el vocabulario para que cliente, equipo y auditor hablen el mismo idioma. ISO 9004 ayuda a ir más allá del mínimo, ISO 19011 guía las auditorías e ISO/IEC/IEEE 90003 traduce ISO 9001 al mundo del software. La definición de calidad es clave: calidad es cumplir requisitos. No es un atributo absoluto, y por eso nuestras pruebas siempre parten de un requisito, RF1 a RF10.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9000 se basa en siete principios. Debajo de cada uno pusimos cómo se ve en nuestro equipo. Enfoque al cliente: criterios de aceptación escritos en Gherkin. Enfoque a procesos: ningún cambio entra a main sin issue, rama, pull request y revisión. Y el principio de mejora, el que resaltamos en amarillo: cada defecto que encontramos quedó convertido en una prueba automatizada, para que no vuelva a aparecer.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recomendaciones externas de aseguramiento fueron tres normas certificables desde 1987. ISO 9001 cubría diseño, producción, instalación y servicio. ISO 9002 dejaba por fuera el diseño, y ISO 9003 solo exigía inspeccionar el producto terminado. En el año 2000 las tres se fusionaron en ISO 9001, y el cambio de fondo fue pasar de inspeccionar al final a prevenir durante todo el proceso. En 2015 llegó la estructura de alto nivel y el pensamiento basado en riesgos, y el 16 de septiembre de 2026 se publicó la sexta edición. En software, quedarse en el modelo de ISO 9003 sería probar solo al final, que es justo lo contrario de lo que hicimos.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edición 2026 no cambia la estructura, pero sí tres cosas. La que más nos interesa es la tercera: los cambios deben planificarse, comunicarse, seguirse y revisarse. Es exactamente la disciplina de control de cambios que pide la guía. Las empresas certificadas tienen hasta el 30 de septiembre de 2029 para migrar.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aplicamos la administración de configuraciones con Git y GitHub. Cada cambio nace como un issue, se trabaja en su propia rama, se propone con un pull request, GitHub Actions corre todas las pruebas y otro integrante revisa. Solo entonces se fusiona. En esta guía hicimos siete pull requests. Uno de ellos lo usamos para practicar un conflicto: dos ramas cambiaron la misma línea del README, el segundo PR quedó en estado CONFLICTING y lo resolvimos combinando ambos cambios.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ciclo Planificar, Hacer, Verificar, Actuar es el corazón de ISO 9001 y de la mejora continua. Planificamos con el plan de pruebas de la guía anterior. Hicimos 90 pruebas. Al verificar, la integración continua falló diez casos: eran cinco defectos reales que nadie había visto. Y actuamos: cada defecto se corrigió en su propia rama y se volvió a probar en dos motores de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defecto más grave: si un ciudadano registraba 0,004 kilogramos, la API respondía error 500, porque la base de datos redondeaba a cero y fallaba la restricción. Otro: una fecha inexistente como el 30 de febrero se aceptaba y el reporte quedaba guardado con fecha 0000-00-00. Curiosamente, en MySQL 8 el mismo defecto producía un error 500: mismo defecto, síntoma distinto según el motor. Tras las dos correcciones, las 90 pruebas pasan y la cobertura de líneas es 82,3 %, por encima de la meta del 70 % del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ISO 9001 no revisa una por una las líneas de código; exige que la organización demuestre la calidad con evidencia. En EcoRecicla esa evidencia son el historial de Git, los pull requests revisados, los issues de defectos y la integración continua. 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A">
    <p:bg>
      <p:bgPr>
        <a:solidFill>
          <a:srgbClr val="1F4D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indent="0" marL="0">
              <a:buNone/>
              <a:defRPr lang="en-US" sz="3800" b="1" dirty="0">
                <a:solidFill>
                  <a:srgbClr val="FFFFFF"/>
                </a:solidFill>
                <a:latin typeface="Cambria" pitchFamily="34" charset="0"/>
                <a:ea typeface="Cambria" pitchFamily="34" charset="-122"/>
                <a:cs typeface="Cambria" pitchFamily="34" charset="-120"/>
              </a:defRPr>
            </a:lvl1pPr>
          </a:lstStyle>
          <a:p>
            <a:pPr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400" b="1" dirty="0">
                <a:solidFill>
                  <a:srgbClr val="1F4D3A"/>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rgbClr val="5B6B63"/>
                </a:solidFill>
              </a:rPr>
              <a:t>EcoRecicla · Estándares y Métricas de Calidad de Software · Guía 7</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ISO 9000 y la gestión de la calidad en EcoRecicla</a:t>
            </a:r>
            <a:endParaRPr lang="en-US" sz="3800" dirty="0"/>
          </a:p>
        </p:txBody>
      </p:sp>
      <p:sp>
        <p:nvSpPr>
          <p:cNvPr id="3" name="Text 1"/>
          <p:cNvSpPr txBox="1"/>
          <p:nvPr/>
        </p:nvSpPr>
        <p:spPr>
          <a:xfrm>
            <a:off x="548640" y="2743200"/>
            <a:ext cx="7498080" cy="548640"/>
          </a:xfrm>
          <a:prstGeom prst="rect">
            <a:avLst/>
          </a:prstGeom>
          <a:noFill/>
          <a:ln/>
        </p:spPr>
        <p:txBody>
          <a:bodyPr wrap="square" lIns="0" tIns="0" rIns="0" bIns="0" rtlCol="0" anchor="t"/>
          <a:lstStyle/>
          <a:p>
            <a:pPr indent="0" marL="0">
              <a:buNone/>
            </a:pPr>
            <a:r>
              <a:rPr lang="en-US" sz="1800" dirty="0">
                <a:solidFill>
                  <a:srgbClr val="7FB069"/>
                </a:solidFill>
              </a:rPr>
              <a:t>Estándares de calidad, control de cambios y pruebas aplicados al proyecto de semestre</a:t>
            </a:r>
            <a:endParaRPr lang="en-US" sz="1800" dirty="0"/>
          </a:p>
        </p:txBody>
      </p:sp>
      <p:sp>
        <p:nvSpPr>
          <p:cNvPr id="4" name="Text 2"/>
          <p:cNvSpPr txBox="1"/>
          <p:nvPr/>
        </p:nvSpPr>
        <p:spPr>
          <a:xfrm>
            <a:off x="548640" y="3931920"/>
            <a:ext cx="7772400" cy="640080"/>
          </a:xfrm>
          <a:prstGeom prst="rect">
            <a:avLst/>
          </a:prstGeom>
          <a:noFill/>
          <a:ln/>
        </p:spPr>
        <p:txBody>
          <a:bodyPr wrap="square" lIns="0" tIns="0" rIns="0" bIns="0" rtlCol="0" anchor="t"/>
          <a:lstStyle/>
          <a:p>
            <a:pPr indent="0" marL="0">
              <a:buNone/>
            </a:pPr>
            <a:r>
              <a:rPr lang="en-US" sz="1200" dirty="0">
                <a:solidFill>
                  <a:srgbClr val="CFE3D3"/>
                </a:solidFill>
              </a:rPr>
              <a:t>David Alejandro Zambrano Arguello · Samuel Ossa Escobar</a:t>
            </a:r>
            <a:endParaRPr lang="en-US" sz="1200" dirty="0"/>
          </a:p>
          <a:p>
            <a:pPr indent="0" marL="0">
              <a:buNone/>
            </a:pPr>
            <a:r>
              <a:rPr lang="en-US" sz="1200" dirty="0">
                <a:solidFill>
                  <a:srgbClr val="CFE3D3"/>
                </a:solidFill>
              </a:rPr>
              <a:t>Universidad Manuela Beltrán · Docente: Mauricio Morales Meneses · Octubre de 2026</a:t>
            </a:r>
            <a:endParaRPr lang="en-US" sz="1200" dirty="0"/>
          </a:p>
        </p:txBody>
      </p:sp>
      <p:sp>
        <p:nvSpPr>
          <p:cNvPr id="5" name="Shape 3"/>
          <p:cNvSpPr/>
          <p:nvPr/>
        </p:nvSpPr>
        <p:spPr>
          <a:xfrm>
            <a:off x="7680960" y="457200"/>
            <a:ext cx="914400" cy="914400"/>
          </a:xfrm>
          <a:prstGeom prst="ellipse">
            <a:avLst/>
          </a:prstGeom>
          <a:solidFill>
            <a:srgbClr val="E9A23B"/>
          </a:solidFill>
          <a:ln w="12700">
            <a:solidFill>
              <a:srgbClr val="E9A23B"/>
            </a:solidFill>
            <a:prstDash val="solid"/>
          </a:ln>
        </p:spPr>
      </p:sp>
      <p:sp>
        <p:nvSpPr>
          <p:cNvPr id="6" name="Text 4"/>
          <p:cNvSpPr txBox="1"/>
          <p:nvPr/>
        </p:nvSpPr>
        <p:spPr>
          <a:xfrm>
            <a:off x="7680960" y="457200"/>
            <a:ext cx="914400" cy="914400"/>
          </a:xfrm>
          <a:prstGeom prst="rect">
            <a:avLst/>
          </a:prstGeom>
          <a:noFill/>
          <a:ln/>
        </p:spPr>
        <p:txBody>
          <a:bodyPr wrap="square" lIns="0" tIns="0" rIns="0" bIns="0" rtlCol="0" anchor="ctr"/>
          <a:lstStyle/>
          <a:p>
            <a:pPr algn="ctr" indent="0" marL="0">
              <a:buNone/>
            </a:pPr>
            <a:r>
              <a:rPr lang="en-US" sz="2200" b="1" dirty="0">
                <a:solidFill>
                  <a:srgbClr val="1F4D3A"/>
                </a:solidFill>
              </a:rPr>
              <a:t>G7</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La calidad se gestiona en tres niveles complementarios</a:t>
            </a:r>
            <a:endParaRPr lang="en-US" sz="2400" dirty="0"/>
          </a:p>
        </p:txBody>
      </p:sp>
      <p:sp>
        <p:nvSpPr>
          <p:cNvPr id="3" name="Shape 1"/>
          <p:cNvSpPr/>
          <p:nvPr/>
        </p:nvSpPr>
        <p:spPr>
          <a:xfrm>
            <a:off x="457200" y="1234440"/>
            <a:ext cx="2606040" cy="3200400"/>
          </a:xfrm>
          <a:prstGeom prst="roundRect">
            <a:avLst>
              <a:gd name="adj" fmla="val 2807"/>
            </a:avLst>
          </a:prstGeom>
          <a:solidFill>
            <a:srgbClr val="EAF3E4"/>
          </a:solidFill>
          <a:ln w="12700">
            <a:solidFill>
              <a:srgbClr val="EAF3E4"/>
            </a:solidFill>
            <a:prstDash val="solid"/>
          </a:ln>
        </p:spPr>
      </p:sp>
      <p:sp>
        <p:nvSpPr>
          <p:cNvPr id="4" name="Shape 2"/>
          <p:cNvSpPr/>
          <p:nvPr/>
        </p:nvSpPr>
        <p:spPr>
          <a:xfrm>
            <a:off x="731520" y="1463040"/>
            <a:ext cx="640080" cy="640080"/>
          </a:xfrm>
          <a:prstGeom prst="ellipse">
            <a:avLst/>
          </a:prstGeom>
          <a:solidFill>
            <a:srgbClr val="2E7D57"/>
          </a:solidFill>
          <a:ln w="12700">
            <a:solidFill>
              <a:srgbClr val="2E7D57"/>
            </a:solidFill>
            <a:prstDash val="solid"/>
          </a:ln>
        </p:spPr>
      </p:sp>
      <p:sp>
        <p:nvSpPr>
          <p:cNvPr id="5" name="Text 3"/>
          <p:cNvSpPr txBox="1"/>
          <p:nvPr/>
        </p:nvSpPr>
        <p:spPr>
          <a:xfrm>
            <a:off x="731520" y="14630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731520" y="2194560"/>
            <a:ext cx="2194560" cy="365760"/>
          </a:xfrm>
          <a:prstGeom prst="rect">
            <a:avLst/>
          </a:prstGeom>
          <a:noFill/>
          <a:ln/>
        </p:spPr>
        <p:txBody>
          <a:bodyPr wrap="square" lIns="0" tIns="0" rIns="0" bIns="0" rtlCol="0" anchor="t"/>
          <a:lstStyle/>
          <a:p>
            <a:pPr indent="0" marL="0">
              <a:buNone/>
            </a:pPr>
            <a:r>
              <a:rPr lang="en-US" sz="1700" b="1" dirty="0">
                <a:solidFill>
                  <a:srgbClr val="1F4D3A"/>
                </a:solidFill>
              </a:rPr>
              <a:t>Organización</a:t>
            </a:r>
            <a:endParaRPr lang="en-US" sz="1700" dirty="0"/>
          </a:p>
        </p:txBody>
      </p:sp>
      <p:sp>
        <p:nvSpPr>
          <p:cNvPr id="7" name="Text 5"/>
          <p:cNvSpPr txBox="1"/>
          <p:nvPr/>
        </p:nvSpPr>
        <p:spPr>
          <a:xfrm>
            <a:off x="731520" y="2651760"/>
            <a:ext cx="2103120" cy="457200"/>
          </a:xfrm>
          <a:prstGeom prst="rect">
            <a:avLst/>
          </a:prstGeom>
          <a:noFill/>
          <a:ln/>
        </p:spPr>
        <p:txBody>
          <a:bodyPr wrap="square" lIns="0" tIns="0" rIns="0" bIns="0" rtlCol="0" anchor="t"/>
          <a:lstStyle/>
          <a:p>
            <a:pPr indent="0" marL="0">
              <a:buNone/>
            </a:pPr>
            <a:r>
              <a:rPr lang="en-US" sz="1200" b="1" dirty="0">
                <a:solidFill>
                  <a:srgbClr val="2E7D57"/>
                </a:solidFill>
              </a:rPr>
              <a:t>ISO 9001 · CMMI · ISO/IEC 33001</a:t>
            </a:r>
            <a:endParaRPr lang="en-US" sz="1200" dirty="0"/>
          </a:p>
        </p:txBody>
      </p:sp>
      <p:sp>
        <p:nvSpPr>
          <p:cNvPr id="8" name="Text 6"/>
          <p:cNvSpPr txBox="1"/>
          <p:nvPr/>
        </p:nvSpPr>
        <p:spPr>
          <a:xfrm>
            <a:off x="731520" y="3200400"/>
            <a:ext cx="2103120" cy="1097280"/>
          </a:xfrm>
          <a:prstGeom prst="rect">
            <a:avLst/>
          </a:prstGeom>
          <a:noFill/>
          <a:ln/>
        </p:spPr>
        <p:txBody>
          <a:bodyPr wrap="square" lIns="0" tIns="0" rIns="0" bIns="0" rtlCol="0" anchor="t"/>
          <a:lstStyle/>
          <a:p>
            <a:pPr indent="0" marL="0">
              <a:buNone/>
            </a:pPr>
            <a:r>
              <a:rPr lang="en-US" sz="1400" dirty="0">
                <a:solidFill>
                  <a:srgbClr val="1E2A24"/>
                </a:solidFill>
              </a:rPr>
              <a:t>¿La empresa trabaja de forma controlada, repetible y orientada al cliente?</a:t>
            </a:r>
            <a:endParaRPr lang="en-US" sz="1400" dirty="0"/>
          </a:p>
        </p:txBody>
      </p:sp>
      <p:sp>
        <p:nvSpPr>
          <p:cNvPr id="9" name="Shape 7"/>
          <p:cNvSpPr/>
          <p:nvPr/>
        </p:nvSpPr>
        <p:spPr>
          <a:xfrm>
            <a:off x="3246120" y="1234440"/>
            <a:ext cx="2606040" cy="3200400"/>
          </a:xfrm>
          <a:prstGeom prst="roundRect">
            <a:avLst>
              <a:gd name="adj" fmla="val 2807"/>
            </a:avLst>
          </a:prstGeom>
          <a:solidFill>
            <a:srgbClr val="EAF3E4"/>
          </a:solidFill>
          <a:ln w="12700">
            <a:solidFill>
              <a:srgbClr val="EAF3E4"/>
            </a:solidFill>
            <a:prstDash val="solid"/>
          </a:ln>
        </p:spPr>
      </p:sp>
      <p:sp>
        <p:nvSpPr>
          <p:cNvPr id="10" name="Shape 8"/>
          <p:cNvSpPr/>
          <p:nvPr/>
        </p:nvSpPr>
        <p:spPr>
          <a:xfrm>
            <a:off x="3520440" y="1463040"/>
            <a:ext cx="640080" cy="640080"/>
          </a:xfrm>
          <a:prstGeom prst="ellipse">
            <a:avLst/>
          </a:prstGeom>
          <a:solidFill>
            <a:srgbClr val="2E7D57"/>
          </a:solidFill>
          <a:ln w="12700">
            <a:solidFill>
              <a:srgbClr val="2E7D57"/>
            </a:solidFill>
            <a:prstDash val="solid"/>
          </a:ln>
        </p:spPr>
      </p:sp>
      <p:sp>
        <p:nvSpPr>
          <p:cNvPr id="11" name="Text 9"/>
          <p:cNvSpPr txBox="1"/>
          <p:nvPr/>
        </p:nvSpPr>
        <p:spPr>
          <a:xfrm>
            <a:off x="3520440" y="14630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3520440" y="2194560"/>
            <a:ext cx="2194560" cy="365760"/>
          </a:xfrm>
          <a:prstGeom prst="rect">
            <a:avLst/>
          </a:prstGeom>
          <a:noFill/>
          <a:ln/>
        </p:spPr>
        <p:txBody>
          <a:bodyPr wrap="square" lIns="0" tIns="0" rIns="0" bIns="0" rtlCol="0" anchor="t"/>
          <a:lstStyle/>
          <a:p>
            <a:pPr indent="0" marL="0">
              <a:buNone/>
            </a:pPr>
            <a:r>
              <a:rPr lang="en-US" sz="1700" b="1" dirty="0">
                <a:solidFill>
                  <a:srgbClr val="1F4D3A"/>
                </a:solidFill>
              </a:rPr>
              <a:t>Producto</a:t>
            </a:r>
            <a:endParaRPr lang="en-US" sz="1700" dirty="0"/>
          </a:p>
        </p:txBody>
      </p:sp>
      <p:sp>
        <p:nvSpPr>
          <p:cNvPr id="13" name="Text 11"/>
          <p:cNvSpPr txBox="1"/>
          <p:nvPr/>
        </p:nvSpPr>
        <p:spPr>
          <a:xfrm>
            <a:off x="3520440" y="2651760"/>
            <a:ext cx="2103120" cy="457200"/>
          </a:xfrm>
          <a:prstGeom prst="rect">
            <a:avLst/>
          </a:prstGeom>
          <a:noFill/>
          <a:ln/>
        </p:spPr>
        <p:txBody>
          <a:bodyPr wrap="square" lIns="0" tIns="0" rIns="0" bIns="0" rtlCol="0" anchor="t"/>
          <a:lstStyle/>
          <a:p>
            <a:pPr indent="0" marL="0">
              <a:buNone/>
            </a:pPr>
            <a:r>
              <a:rPr lang="en-US" sz="1200" b="1" dirty="0">
                <a:solidFill>
                  <a:srgbClr val="2E7D57"/>
                </a:solidFill>
              </a:rPr>
              <a:t>ISO/IEC 25010 · 25012 · 25023</a:t>
            </a:r>
            <a:endParaRPr lang="en-US" sz="1200" dirty="0"/>
          </a:p>
        </p:txBody>
      </p:sp>
      <p:sp>
        <p:nvSpPr>
          <p:cNvPr id="14" name="Text 12"/>
          <p:cNvSpPr txBox="1"/>
          <p:nvPr/>
        </p:nvSpPr>
        <p:spPr>
          <a:xfrm>
            <a:off x="3520440" y="3200400"/>
            <a:ext cx="2103120" cy="1097280"/>
          </a:xfrm>
          <a:prstGeom prst="rect">
            <a:avLst/>
          </a:prstGeom>
          <a:noFill/>
          <a:ln/>
        </p:spPr>
        <p:txBody>
          <a:bodyPr wrap="square" lIns="0" tIns="0" rIns="0" bIns="0" rtlCol="0" anchor="t"/>
          <a:lstStyle/>
          <a:p>
            <a:pPr indent="0" marL="0">
              <a:buNone/>
            </a:pPr>
            <a:r>
              <a:rPr lang="en-US" sz="1400" dirty="0">
                <a:solidFill>
                  <a:srgbClr val="1E2A24"/>
                </a:solidFill>
              </a:rPr>
              <a:t>¿El software tiene las características de calidad que se le pidieron?</a:t>
            </a:r>
            <a:endParaRPr lang="en-US" sz="1400" dirty="0"/>
          </a:p>
        </p:txBody>
      </p:sp>
      <p:sp>
        <p:nvSpPr>
          <p:cNvPr id="15" name="Shape 13"/>
          <p:cNvSpPr/>
          <p:nvPr/>
        </p:nvSpPr>
        <p:spPr>
          <a:xfrm>
            <a:off x="6035040" y="1234440"/>
            <a:ext cx="2606040" cy="3200400"/>
          </a:xfrm>
          <a:prstGeom prst="roundRect">
            <a:avLst>
              <a:gd name="adj" fmla="val 2807"/>
            </a:avLst>
          </a:prstGeom>
          <a:solidFill>
            <a:srgbClr val="EAF3E4"/>
          </a:solidFill>
          <a:ln w="12700">
            <a:solidFill>
              <a:srgbClr val="EAF3E4"/>
            </a:solidFill>
            <a:prstDash val="solid"/>
          </a:ln>
        </p:spPr>
      </p:sp>
      <p:sp>
        <p:nvSpPr>
          <p:cNvPr id="16" name="Shape 14"/>
          <p:cNvSpPr/>
          <p:nvPr/>
        </p:nvSpPr>
        <p:spPr>
          <a:xfrm>
            <a:off x="6309360" y="1463040"/>
            <a:ext cx="640080" cy="640080"/>
          </a:xfrm>
          <a:prstGeom prst="ellipse">
            <a:avLst/>
          </a:prstGeom>
          <a:solidFill>
            <a:srgbClr val="2E7D57"/>
          </a:solidFill>
          <a:ln w="12700">
            <a:solidFill>
              <a:srgbClr val="2E7D57"/>
            </a:solidFill>
            <a:prstDash val="solid"/>
          </a:ln>
        </p:spPr>
      </p:sp>
      <p:sp>
        <p:nvSpPr>
          <p:cNvPr id="17" name="Text 15"/>
          <p:cNvSpPr txBox="1"/>
          <p:nvPr/>
        </p:nvSpPr>
        <p:spPr>
          <a:xfrm>
            <a:off x="6309360" y="14630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txBox="1"/>
          <p:nvPr/>
        </p:nvSpPr>
        <p:spPr>
          <a:xfrm>
            <a:off x="6309360" y="2194560"/>
            <a:ext cx="2194560" cy="365760"/>
          </a:xfrm>
          <a:prstGeom prst="rect">
            <a:avLst/>
          </a:prstGeom>
          <a:noFill/>
          <a:ln/>
        </p:spPr>
        <p:txBody>
          <a:bodyPr wrap="square" lIns="0" tIns="0" rIns="0" bIns="0" rtlCol="0" anchor="t"/>
          <a:lstStyle/>
          <a:p>
            <a:pPr indent="0" marL="0">
              <a:buNone/>
            </a:pPr>
            <a:r>
              <a:rPr lang="en-US" sz="1700" b="1" dirty="0">
                <a:solidFill>
                  <a:srgbClr val="1F4D3A"/>
                </a:solidFill>
              </a:rPr>
              <a:t>Pruebas</a:t>
            </a:r>
            <a:endParaRPr lang="en-US" sz="1700" dirty="0"/>
          </a:p>
        </p:txBody>
      </p:sp>
      <p:sp>
        <p:nvSpPr>
          <p:cNvPr id="19" name="Text 17"/>
          <p:cNvSpPr txBox="1"/>
          <p:nvPr/>
        </p:nvSpPr>
        <p:spPr>
          <a:xfrm>
            <a:off x="6309360" y="2651760"/>
            <a:ext cx="2103120" cy="457200"/>
          </a:xfrm>
          <a:prstGeom prst="rect">
            <a:avLst/>
          </a:prstGeom>
          <a:noFill/>
          <a:ln/>
        </p:spPr>
        <p:txBody>
          <a:bodyPr wrap="square" lIns="0" tIns="0" rIns="0" bIns="0" rtlCol="0" anchor="t"/>
          <a:lstStyle/>
          <a:p>
            <a:pPr indent="0" marL="0">
              <a:buNone/>
            </a:pPr>
            <a:r>
              <a:rPr lang="en-US" sz="1200" b="1" dirty="0">
                <a:solidFill>
                  <a:srgbClr val="2E7D57"/>
                </a:solidFill>
              </a:rPr>
              <a:t>ISO/IEC/IEEE 29119 · ISTQB</a:t>
            </a:r>
            <a:endParaRPr lang="en-US" sz="1200" dirty="0"/>
          </a:p>
        </p:txBody>
      </p:sp>
      <p:sp>
        <p:nvSpPr>
          <p:cNvPr id="20" name="Text 18"/>
          <p:cNvSpPr txBox="1"/>
          <p:nvPr/>
        </p:nvSpPr>
        <p:spPr>
          <a:xfrm>
            <a:off x="6309360" y="3200400"/>
            <a:ext cx="2103120" cy="1097280"/>
          </a:xfrm>
          <a:prstGeom prst="rect">
            <a:avLst/>
          </a:prstGeom>
          <a:noFill/>
          <a:ln/>
        </p:spPr>
        <p:txBody>
          <a:bodyPr wrap="square" lIns="0" tIns="0" rIns="0" bIns="0" rtlCol="0" anchor="t"/>
          <a:lstStyle/>
          <a:p>
            <a:pPr indent="0" marL="0">
              <a:buNone/>
            </a:pPr>
            <a:r>
              <a:rPr lang="en-US" sz="1400" dirty="0">
                <a:solidFill>
                  <a:srgbClr val="1E2A24"/>
                </a:solidFill>
              </a:rPr>
              <a:t>¿Cómo se demuestra, con evidencia, que el producto cumple?</a:t>
            </a:r>
            <a:endParaRPr lang="en-US" sz="14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ISO 9000 define el idioma; ISO 9001 pone los requisitos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577840" cy="914400"/>
        </p:xfrm>
        <a:graphic>
          <a:graphicData uri="http://schemas.openxmlformats.org/drawingml/2006/table">
            <a:tbl>
              <a:tblPr/>
              <a:tblGrid>
                <a:gridCol w="1737360"/>
                <a:gridCol w="2743200"/>
                <a:gridCol w="1097280"/>
              </a:tblGrid>
              <a:tr h="438912">
                <a:tc>
                  <a:txBody>
                    <a:bodyPr/>
                    <a:lstStyle/>
                    <a:p>
                      <a:pPr indent="0" marL="0">
                        <a:buNone/>
                      </a:pPr>
                      <a:r>
                        <a:rPr lang="en-US" sz="1200" b="1" dirty="0">
                          <a:solidFill>
                            <a:srgbClr val="FFFFFF"/>
                          </a:solidFill>
                        </a:rPr>
                        <a:t>Norma</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rPr>
                        <a:t>Qué aporta</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200" b="1" dirty="0">
                          <a:solidFill>
                            <a:srgbClr val="FFFFFF"/>
                          </a:solidFill>
                        </a:rPr>
                        <a:t>¿Certificable?</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438912">
                <a:tc>
                  <a:txBody>
                    <a:bodyPr/>
                    <a:lstStyle/>
                    <a:p>
                      <a:pPr indent="0" marL="0">
                        <a:buNone/>
                      </a:pPr>
                      <a:r>
                        <a:rPr lang="en-US" sz="1200" dirty="0">
                          <a:solidFill>
                            <a:srgbClr val="1E2A24"/>
                          </a:solidFill>
                        </a:rPr>
                        <a:t>ISO 9000:2015</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Fundamentos, 7 principios y vocabulario común</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No</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2E7D57"/>
                          </a:solidFill>
                        </a:rPr>
                        <a:t>ISO 9001:2026</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b="1" dirty="0">
                          <a:solidFill>
                            <a:srgbClr val="1E2A24"/>
                          </a:solidFill>
                        </a:rPr>
                        <a:t>Requisitos del sistema de gestión de la calidad (SGC)</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b="1" dirty="0">
                          <a:solidFill>
                            <a:srgbClr val="2E7D57"/>
                          </a:solidFill>
                        </a:rPr>
                        <a:t>Sí, la única</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E2A24"/>
                          </a:solidFill>
                        </a:rPr>
                        <a:t>ISO 9004:2018</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Orientación para el éxito sostenido</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No</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E2A24"/>
                          </a:solidFill>
                        </a:rPr>
                        <a:t>ISO 19011:2018</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Directrices para auditar sistemas de gestión</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No</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E2A24"/>
                          </a:solidFill>
                        </a:rPr>
                        <a:t>ISO/IEC/IEEE 90003:2018</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Cómo aplicar ISO 9001 al software</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200" dirty="0">
                          <a:solidFill>
                            <a:srgbClr val="1E2A24"/>
                          </a:solidFill>
                        </a:rPr>
                        <a:t>No (guía sectorial)</a:t>
                      </a:r>
                      <a:endParaRPr lang="en-US" sz="1200" dirty="0"/>
                    </a:p>
                  </a:txBody>
                  <a:tcPr marL="91440" marR="9144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sp>
        <p:nvSpPr>
          <p:cNvPr id="4" name="Shape 1"/>
          <p:cNvSpPr/>
          <p:nvPr/>
        </p:nvSpPr>
        <p:spPr>
          <a:xfrm>
            <a:off x="6309360" y="1188720"/>
            <a:ext cx="2377440" cy="2651760"/>
          </a:xfrm>
          <a:prstGeom prst="roundRect">
            <a:avLst>
              <a:gd name="adj" fmla="val 3077"/>
            </a:avLst>
          </a:prstGeom>
          <a:solidFill>
            <a:srgbClr val="1F4D3A"/>
          </a:solidFill>
          <a:ln w="12700">
            <a:solidFill>
              <a:srgbClr val="1F4D3A"/>
            </a:solidFill>
            <a:prstDash val="solid"/>
          </a:ln>
        </p:spPr>
      </p:sp>
      <p:sp>
        <p:nvSpPr>
          <p:cNvPr id="5" name="Text 2"/>
          <p:cNvSpPr txBox="1"/>
          <p:nvPr/>
        </p:nvSpPr>
        <p:spPr>
          <a:xfrm>
            <a:off x="6492240" y="1371600"/>
            <a:ext cx="2011680" cy="365760"/>
          </a:xfrm>
          <a:prstGeom prst="rect">
            <a:avLst/>
          </a:prstGeom>
          <a:noFill/>
          <a:ln/>
        </p:spPr>
        <p:txBody>
          <a:bodyPr wrap="square" lIns="0" tIns="0" rIns="0" bIns="0" rtlCol="0" anchor="t"/>
          <a:lstStyle/>
          <a:p>
            <a:pPr indent="0" marL="0">
              <a:buNone/>
            </a:pPr>
            <a:r>
              <a:rPr lang="en-US" sz="1400" b="1" dirty="0">
                <a:solidFill>
                  <a:srgbClr val="7FB069"/>
                </a:solidFill>
              </a:rPr>
              <a:t>Calidad según ISO 9000</a:t>
            </a:r>
            <a:endParaRPr lang="en-US" sz="1400" dirty="0"/>
          </a:p>
        </p:txBody>
      </p:sp>
      <p:sp>
        <p:nvSpPr>
          <p:cNvPr id="6" name="Text 3"/>
          <p:cNvSpPr txBox="1"/>
          <p:nvPr/>
        </p:nvSpPr>
        <p:spPr>
          <a:xfrm>
            <a:off x="6492240" y="1783080"/>
            <a:ext cx="2011680" cy="1188720"/>
          </a:xfrm>
          <a:prstGeom prst="rect">
            <a:avLst/>
          </a:prstGeom>
          <a:noFill/>
          <a:ln/>
        </p:spPr>
        <p:txBody>
          <a:bodyPr wrap="square" lIns="0" tIns="0" rIns="0" bIns="0" rtlCol="0" anchor="t"/>
          <a:lstStyle/>
          <a:p>
            <a:pPr indent="0" marL="0">
              <a:buNone/>
            </a:pPr>
            <a:r>
              <a:rPr lang="en-US" sz="1500" i="1" dirty="0">
                <a:solidFill>
                  <a:srgbClr val="FFFFFF"/>
                </a:solidFill>
              </a:rPr>
              <a:t>Grado en que las características de un producto cumplen con los requisitos.</a:t>
            </a:r>
            <a:endParaRPr lang="en-US" sz="1500" dirty="0"/>
          </a:p>
        </p:txBody>
      </p:sp>
      <p:sp>
        <p:nvSpPr>
          <p:cNvPr id="7" name="Text 4"/>
          <p:cNvSpPr txBox="1"/>
          <p:nvPr/>
        </p:nvSpPr>
        <p:spPr>
          <a:xfrm>
            <a:off x="6492240" y="3063240"/>
            <a:ext cx="2011680" cy="685800"/>
          </a:xfrm>
          <a:prstGeom prst="rect">
            <a:avLst/>
          </a:prstGeom>
          <a:noFill/>
          <a:ln/>
        </p:spPr>
        <p:txBody>
          <a:bodyPr wrap="square" lIns="0" tIns="0" rIns="0" bIns="0" rtlCol="0" anchor="t"/>
          <a:lstStyle/>
          <a:p>
            <a:pPr indent="0" marL="0">
              <a:buNone/>
            </a:pPr>
            <a:r>
              <a:rPr lang="en-US" sz="1200" dirty="0">
                <a:solidFill>
                  <a:srgbClr val="CFE3D3"/>
                </a:solidFill>
              </a:rPr>
              <a:t>Por eso toda prueba se diseña a partir de un requisito.</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Siete principios sostienen toda la familia ISO 9000</a:t>
            </a:r>
            <a:endParaRPr lang="en-US" sz="2400" dirty="0"/>
          </a:p>
        </p:txBody>
      </p:sp>
      <p:sp>
        <p:nvSpPr>
          <p:cNvPr id="3" name="Shape 1"/>
          <p:cNvSpPr/>
          <p:nvPr/>
        </p:nvSpPr>
        <p:spPr>
          <a:xfrm>
            <a:off x="457200" y="1234440"/>
            <a:ext cx="1920240" cy="1554480"/>
          </a:xfrm>
          <a:prstGeom prst="roundRect">
            <a:avLst>
              <a:gd name="adj" fmla="val 4706"/>
            </a:avLst>
          </a:prstGeom>
          <a:solidFill>
            <a:srgbClr val="EAF3E4"/>
          </a:solidFill>
          <a:ln w="12700">
            <a:solidFill>
              <a:srgbClr val="EAF3E4"/>
            </a:solidFill>
            <a:prstDash val="solid"/>
          </a:ln>
        </p:spPr>
      </p:sp>
      <p:sp>
        <p:nvSpPr>
          <p:cNvPr id="4" name="Shape 2"/>
          <p:cNvSpPr/>
          <p:nvPr/>
        </p:nvSpPr>
        <p:spPr>
          <a:xfrm>
            <a:off x="594360" y="1371600"/>
            <a:ext cx="457200" cy="457200"/>
          </a:xfrm>
          <a:prstGeom prst="ellipse">
            <a:avLst/>
          </a:prstGeom>
          <a:solidFill>
            <a:srgbClr val="2E7D57"/>
          </a:solidFill>
          <a:ln w="12700">
            <a:solidFill>
              <a:srgbClr val="2E7D57"/>
            </a:solidFill>
            <a:prstDash val="solid"/>
          </a:ln>
        </p:spPr>
      </p:sp>
      <p:sp>
        <p:nvSpPr>
          <p:cNvPr id="5" name="Text 3"/>
          <p:cNvSpPr txBox="1"/>
          <p:nvPr/>
        </p:nvSpPr>
        <p:spPr>
          <a:xfrm>
            <a:off x="594360" y="1371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594360" y="1892808"/>
            <a:ext cx="1691640" cy="411480"/>
          </a:xfrm>
          <a:prstGeom prst="rect">
            <a:avLst/>
          </a:prstGeom>
          <a:noFill/>
          <a:ln/>
        </p:spPr>
        <p:txBody>
          <a:bodyPr wrap="square" lIns="0" tIns="0" rIns="0" bIns="0" rtlCol="0" anchor="b"/>
          <a:lstStyle/>
          <a:p>
            <a:pPr indent="0" marL="0">
              <a:buNone/>
            </a:pPr>
            <a:r>
              <a:rPr lang="en-US" sz="1300" b="1" dirty="0">
                <a:solidFill>
                  <a:srgbClr val="1F4D3A"/>
                </a:solidFill>
              </a:rPr>
              <a:t>Enfoque al cliente</a:t>
            </a:r>
            <a:endParaRPr lang="en-US" sz="1300" dirty="0"/>
          </a:p>
        </p:txBody>
      </p:sp>
      <p:sp>
        <p:nvSpPr>
          <p:cNvPr id="7" name="Text 5"/>
          <p:cNvSpPr txBox="1"/>
          <p:nvPr/>
        </p:nvSpPr>
        <p:spPr>
          <a:xfrm>
            <a:off x="594360" y="2350008"/>
            <a:ext cx="1691640" cy="384048"/>
          </a:xfrm>
          <a:prstGeom prst="rect">
            <a:avLst/>
          </a:prstGeom>
          <a:noFill/>
          <a:ln/>
        </p:spPr>
        <p:txBody>
          <a:bodyPr wrap="square" lIns="0" tIns="0" rIns="0" bIns="0" rtlCol="0" anchor="t"/>
          <a:lstStyle/>
          <a:p>
            <a:pPr indent="0" marL="0">
              <a:buNone/>
            </a:pPr>
            <a:r>
              <a:rPr lang="en-US" sz="1100" dirty="0">
                <a:solidFill>
                  <a:srgbClr val="5B6B63"/>
                </a:solidFill>
              </a:rPr>
              <a:t>Criterios de aceptación en Gherkin</a:t>
            </a:r>
            <a:endParaRPr lang="en-US" sz="1100" dirty="0"/>
          </a:p>
        </p:txBody>
      </p:sp>
      <p:sp>
        <p:nvSpPr>
          <p:cNvPr id="8" name="Shape 6"/>
          <p:cNvSpPr/>
          <p:nvPr/>
        </p:nvSpPr>
        <p:spPr>
          <a:xfrm>
            <a:off x="2542032" y="1234440"/>
            <a:ext cx="1920240" cy="1554480"/>
          </a:xfrm>
          <a:prstGeom prst="roundRect">
            <a:avLst>
              <a:gd name="adj" fmla="val 4706"/>
            </a:avLst>
          </a:prstGeom>
          <a:solidFill>
            <a:srgbClr val="EAF3E4"/>
          </a:solidFill>
          <a:ln w="12700">
            <a:solidFill>
              <a:srgbClr val="EAF3E4"/>
            </a:solidFill>
            <a:prstDash val="solid"/>
          </a:ln>
        </p:spPr>
      </p:sp>
      <p:sp>
        <p:nvSpPr>
          <p:cNvPr id="9" name="Shape 7"/>
          <p:cNvSpPr/>
          <p:nvPr/>
        </p:nvSpPr>
        <p:spPr>
          <a:xfrm>
            <a:off x="2679192" y="1371600"/>
            <a:ext cx="457200" cy="457200"/>
          </a:xfrm>
          <a:prstGeom prst="ellipse">
            <a:avLst/>
          </a:prstGeom>
          <a:solidFill>
            <a:srgbClr val="2E7D57"/>
          </a:solidFill>
          <a:ln w="12700">
            <a:solidFill>
              <a:srgbClr val="2E7D57"/>
            </a:solidFill>
            <a:prstDash val="solid"/>
          </a:ln>
        </p:spPr>
      </p:sp>
      <p:sp>
        <p:nvSpPr>
          <p:cNvPr id="10" name="Text 8"/>
          <p:cNvSpPr txBox="1"/>
          <p:nvPr/>
        </p:nvSpPr>
        <p:spPr>
          <a:xfrm>
            <a:off x="2679192" y="1371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2679192" y="1892808"/>
            <a:ext cx="1691640" cy="411480"/>
          </a:xfrm>
          <a:prstGeom prst="rect">
            <a:avLst/>
          </a:prstGeom>
          <a:noFill/>
          <a:ln/>
        </p:spPr>
        <p:txBody>
          <a:bodyPr wrap="square" lIns="0" tIns="0" rIns="0" bIns="0" rtlCol="0" anchor="b"/>
          <a:lstStyle/>
          <a:p>
            <a:pPr indent="0" marL="0">
              <a:buNone/>
            </a:pPr>
            <a:r>
              <a:rPr lang="en-US" sz="1300" b="1" dirty="0">
                <a:solidFill>
                  <a:srgbClr val="1F4D3A"/>
                </a:solidFill>
              </a:rPr>
              <a:t>Liderazgo</a:t>
            </a:r>
            <a:endParaRPr lang="en-US" sz="1300" dirty="0"/>
          </a:p>
        </p:txBody>
      </p:sp>
      <p:sp>
        <p:nvSpPr>
          <p:cNvPr id="12" name="Text 10"/>
          <p:cNvSpPr txBox="1"/>
          <p:nvPr/>
        </p:nvSpPr>
        <p:spPr>
          <a:xfrm>
            <a:off x="2679192" y="2350008"/>
            <a:ext cx="1691640" cy="384048"/>
          </a:xfrm>
          <a:prstGeom prst="rect">
            <a:avLst/>
          </a:prstGeom>
          <a:noFill/>
          <a:ln/>
        </p:spPr>
        <p:txBody>
          <a:bodyPr wrap="square" lIns="0" tIns="0" rIns="0" bIns="0" rtlCol="0" anchor="t"/>
          <a:lstStyle/>
          <a:p>
            <a:pPr indent="0" marL="0">
              <a:buNone/>
            </a:pPr>
            <a:r>
              <a:rPr lang="en-US" sz="1100" dirty="0">
                <a:solidFill>
                  <a:srgbClr val="5B6B63"/>
                </a:solidFill>
              </a:rPr>
              <a:t>Objetivo: cero defectos críticos</a:t>
            </a:r>
            <a:endParaRPr lang="en-US" sz="1100" dirty="0"/>
          </a:p>
        </p:txBody>
      </p:sp>
      <p:sp>
        <p:nvSpPr>
          <p:cNvPr id="13" name="Shape 11"/>
          <p:cNvSpPr/>
          <p:nvPr/>
        </p:nvSpPr>
        <p:spPr>
          <a:xfrm>
            <a:off x="4626864" y="1234440"/>
            <a:ext cx="1920240" cy="1554480"/>
          </a:xfrm>
          <a:prstGeom prst="roundRect">
            <a:avLst>
              <a:gd name="adj" fmla="val 4706"/>
            </a:avLst>
          </a:prstGeom>
          <a:solidFill>
            <a:srgbClr val="EAF3E4"/>
          </a:solidFill>
          <a:ln w="12700">
            <a:solidFill>
              <a:srgbClr val="EAF3E4"/>
            </a:solidFill>
            <a:prstDash val="solid"/>
          </a:ln>
        </p:spPr>
      </p:sp>
      <p:sp>
        <p:nvSpPr>
          <p:cNvPr id="14" name="Shape 12"/>
          <p:cNvSpPr/>
          <p:nvPr/>
        </p:nvSpPr>
        <p:spPr>
          <a:xfrm>
            <a:off x="4764024" y="1371600"/>
            <a:ext cx="457200" cy="457200"/>
          </a:xfrm>
          <a:prstGeom prst="ellipse">
            <a:avLst/>
          </a:prstGeom>
          <a:solidFill>
            <a:srgbClr val="2E7D57"/>
          </a:solidFill>
          <a:ln w="12700">
            <a:solidFill>
              <a:srgbClr val="2E7D57"/>
            </a:solidFill>
            <a:prstDash val="solid"/>
          </a:ln>
        </p:spPr>
      </p:sp>
      <p:sp>
        <p:nvSpPr>
          <p:cNvPr id="15" name="Text 13"/>
          <p:cNvSpPr txBox="1"/>
          <p:nvPr/>
        </p:nvSpPr>
        <p:spPr>
          <a:xfrm>
            <a:off x="4764024" y="1371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4764024" y="1892808"/>
            <a:ext cx="1691640" cy="411480"/>
          </a:xfrm>
          <a:prstGeom prst="rect">
            <a:avLst/>
          </a:prstGeom>
          <a:noFill/>
          <a:ln/>
        </p:spPr>
        <p:txBody>
          <a:bodyPr wrap="square" lIns="0" tIns="0" rIns="0" bIns="0" rtlCol="0" anchor="b"/>
          <a:lstStyle/>
          <a:p>
            <a:pPr indent="0" marL="0">
              <a:buNone/>
            </a:pPr>
            <a:r>
              <a:rPr lang="en-US" sz="1300" b="1" dirty="0">
                <a:solidFill>
                  <a:srgbClr val="1F4D3A"/>
                </a:solidFill>
              </a:rPr>
              <a:t>Compromiso de las personas</a:t>
            </a:r>
            <a:endParaRPr lang="en-US" sz="1300" dirty="0"/>
          </a:p>
        </p:txBody>
      </p:sp>
      <p:sp>
        <p:nvSpPr>
          <p:cNvPr id="17" name="Text 15"/>
          <p:cNvSpPr txBox="1"/>
          <p:nvPr/>
        </p:nvSpPr>
        <p:spPr>
          <a:xfrm>
            <a:off x="4764024" y="2350008"/>
            <a:ext cx="1691640" cy="384048"/>
          </a:xfrm>
          <a:prstGeom prst="rect">
            <a:avLst/>
          </a:prstGeom>
          <a:noFill/>
          <a:ln/>
        </p:spPr>
        <p:txBody>
          <a:bodyPr wrap="square" lIns="0" tIns="0" rIns="0" bIns="0" rtlCol="0" anchor="t"/>
          <a:lstStyle/>
          <a:p>
            <a:pPr indent="0" marL="0">
              <a:buNone/>
            </a:pPr>
            <a:r>
              <a:rPr lang="en-US" sz="1100" dirty="0">
                <a:solidFill>
                  <a:srgbClr val="5B6B63"/>
                </a:solidFill>
              </a:rPr>
              <a:t>Roles PSP/TSP rotativos</a:t>
            </a:r>
            <a:endParaRPr lang="en-US" sz="1100" dirty="0"/>
          </a:p>
        </p:txBody>
      </p:sp>
      <p:sp>
        <p:nvSpPr>
          <p:cNvPr id="18" name="Shape 16"/>
          <p:cNvSpPr/>
          <p:nvPr/>
        </p:nvSpPr>
        <p:spPr>
          <a:xfrm>
            <a:off x="6711696" y="1234440"/>
            <a:ext cx="1920240" cy="1554480"/>
          </a:xfrm>
          <a:prstGeom prst="roundRect">
            <a:avLst>
              <a:gd name="adj" fmla="val 4706"/>
            </a:avLst>
          </a:prstGeom>
          <a:solidFill>
            <a:srgbClr val="EAF3E4"/>
          </a:solidFill>
          <a:ln w="12700">
            <a:solidFill>
              <a:srgbClr val="EAF3E4"/>
            </a:solidFill>
            <a:prstDash val="solid"/>
          </a:ln>
        </p:spPr>
      </p:sp>
      <p:sp>
        <p:nvSpPr>
          <p:cNvPr id="19" name="Shape 17"/>
          <p:cNvSpPr/>
          <p:nvPr/>
        </p:nvSpPr>
        <p:spPr>
          <a:xfrm>
            <a:off x="6848856" y="1371600"/>
            <a:ext cx="457200" cy="457200"/>
          </a:xfrm>
          <a:prstGeom prst="ellipse">
            <a:avLst/>
          </a:prstGeom>
          <a:solidFill>
            <a:srgbClr val="2E7D57"/>
          </a:solidFill>
          <a:ln w="12700">
            <a:solidFill>
              <a:srgbClr val="2E7D57"/>
            </a:solidFill>
            <a:prstDash val="solid"/>
          </a:ln>
        </p:spPr>
      </p:sp>
      <p:sp>
        <p:nvSpPr>
          <p:cNvPr id="20" name="Text 18"/>
          <p:cNvSpPr txBox="1"/>
          <p:nvPr/>
        </p:nvSpPr>
        <p:spPr>
          <a:xfrm>
            <a:off x="6848856" y="1371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6848856" y="1892808"/>
            <a:ext cx="1691640" cy="411480"/>
          </a:xfrm>
          <a:prstGeom prst="rect">
            <a:avLst/>
          </a:prstGeom>
          <a:noFill/>
          <a:ln/>
        </p:spPr>
        <p:txBody>
          <a:bodyPr wrap="square" lIns="0" tIns="0" rIns="0" bIns="0" rtlCol="0" anchor="b"/>
          <a:lstStyle/>
          <a:p>
            <a:pPr indent="0" marL="0">
              <a:buNone/>
            </a:pPr>
            <a:r>
              <a:rPr lang="en-US" sz="1300" b="1" dirty="0">
                <a:solidFill>
                  <a:srgbClr val="1F4D3A"/>
                </a:solidFill>
              </a:rPr>
              <a:t>Enfoque a procesos</a:t>
            </a:r>
            <a:endParaRPr lang="en-US" sz="1300" dirty="0"/>
          </a:p>
        </p:txBody>
      </p:sp>
      <p:sp>
        <p:nvSpPr>
          <p:cNvPr id="22" name="Text 20"/>
          <p:cNvSpPr txBox="1"/>
          <p:nvPr/>
        </p:nvSpPr>
        <p:spPr>
          <a:xfrm>
            <a:off x="6848856" y="2350008"/>
            <a:ext cx="1691640" cy="384048"/>
          </a:xfrm>
          <a:prstGeom prst="rect">
            <a:avLst/>
          </a:prstGeom>
          <a:noFill/>
          <a:ln/>
        </p:spPr>
        <p:txBody>
          <a:bodyPr wrap="square" lIns="0" tIns="0" rIns="0" bIns="0" rtlCol="0" anchor="t"/>
          <a:lstStyle/>
          <a:p>
            <a:pPr indent="0" marL="0">
              <a:buNone/>
            </a:pPr>
            <a:r>
              <a:rPr lang="en-US" sz="1100" dirty="0">
                <a:solidFill>
                  <a:srgbClr val="5B6B63"/>
                </a:solidFill>
              </a:rPr>
              <a:t>Issue, rama, PR, revisión, merge</a:t>
            </a:r>
            <a:endParaRPr lang="en-US" sz="1100" dirty="0"/>
          </a:p>
        </p:txBody>
      </p:sp>
      <p:sp>
        <p:nvSpPr>
          <p:cNvPr id="23" name="Shape 21"/>
          <p:cNvSpPr/>
          <p:nvPr/>
        </p:nvSpPr>
        <p:spPr>
          <a:xfrm>
            <a:off x="1499616" y="2971800"/>
            <a:ext cx="1920240" cy="1554480"/>
          </a:xfrm>
          <a:prstGeom prst="roundRect">
            <a:avLst>
              <a:gd name="adj" fmla="val 4706"/>
            </a:avLst>
          </a:prstGeom>
          <a:solidFill>
            <a:srgbClr val="EAF3E4"/>
          </a:solidFill>
          <a:ln w="12700">
            <a:solidFill>
              <a:srgbClr val="EAF3E4"/>
            </a:solidFill>
            <a:prstDash val="solid"/>
          </a:ln>
        </p:spPr>
      </p:sp>
      <p:sp>
        <p:nvSpPr>
          <p:cNvPr id="24" name="Shape 22"/>
          <p:cNvSpPr/>
          <p:nvPr/>
        </p:nvSpPr>
        <p:spPr>
          <a:xfrm>
            <a:off x="1636776" y="3108960"/>
            <a:ext cx="457200" cy="457200"/>
          </a:xfrm>
          <a:prstGeom prst="ellipse">
            <a:avLst/>
          </a:prstGeom>
          <a:solidFill>
            <a:srgbClr val="E9A23B"/>
          </a:solidFill>
          <a:ln w="12700">
            <a:solidFill>
              <a:srgbClr val="E9A23B"/>
            </a:solidFill>
            <a:prstDash val="solid"/>
          </a:ln>
        </p:spPr>
      </p:sp>
      <p:sp>
        <p:nvSpPr>
          <p:cNvPr id="25" name="Text 23"/>
          <p:cNvSpPr txBox="1"/>
          <p:nvPr/>
        </p:nvSpPr>
        <p:spPr>
          <a:xfrm>
            <a:off x="1636776" y="3108960"/>
            <a:ext cx="457200" cy="457200"/>
          </a:xfrm>
          <a:prstGeom prst="rect">
            <a:avLst/>
          </a:prstGeom>
          <a:noFill/>
          <a:ln/>
        </p:spPr>
        <p:txBody>
          <a:bodyPr wrap="square" lIns="0" tIns="0" rIns="0" bIns="0" rtlCol="0" anchor="ctr"/>
          <a:lstStyle/>
          <a:p>
            <a:pPr algn="ctr" indent="0" marL="0">
              <a:buNone/>
            </a:pPr>
            <a:r>
              <a:rPr lang="en-US" sz="1400" b="1" dirty="0">
                <a:solidFill>
                  <a:srgbClr val="1F4D3A"/>
                </a:solidFill>
              </a:rPr>
              <a:t>5</a:t>
            </a:r>
            <a:endParaRPr lang="en-US" sz="1400" dirty="0"/>
          </a:p>
        </p:txBody>
      </p:sp>
      <p:sp>
        <p:nvSpPr>
          <p:cNvPr id="26" name="Text 24"/>
          <p:cNvSpPr txBox="1"/>
          <p:nvPr/>
        </p:nvSpPr>
        <p:spPr>
          <a:xfrm>
            <a:off x="1636776" y="3630168"/>
            <a:ext cx="1691640" cy="411480"/>
          </a:xfrm>
          <a:prstGeom prst="rect">
            <a:avLst/>
          </a:prstGeom>
          <a:noFill/>
          <a:ln/>
        </p:spPr>
        <p:txBody>
          <a:bodyPr wrap="square" lIns="0" tIns="0" rIns="0" bIns="0" rtlCol="0" anchor="b"/>
          <a:lstStyle/>
          <a:p>
            <a:pPr indent="0" marL="0">
              <a:buNone/>
            </a:pPr>
            <a:r>
              <a:rPr lang="en-US" sz="1300" b="1" dirty="0">
                <a:solidFill>
                  <a:srgbClr val="1F4D3A"/>
                </a:solidFill>
              </a:rPr>
              <a:t>Mejora</a:t>
            </a:r>
            <a:endParaRPr lang="en-US" sz="1300" dirty="0"/>
          </a:p>
        </p:txBody>
      </p:sp>
      <p:sp>
        <p:nvSpPr>
          <p:cNvPr id="27" name="Text 25"/>
          <p:cNvSpPr txBox="1"/>
          <p:nvPr/>
        </p:nvSpPr>
        <p:spPr>
          <a:xfrm>
            <a:off x="1636776" y="4087368"/>
            <a:ext cx="1691640" cy="384048"/>
          </a:xfrm>
          <a:prstGeom prst="rect">
            <a:avLst/>
          </a:prstGeom>
          <a:noFill/>
          <a:ln/>
        </p:spPr>
        <p:txBody>
          <a:bodyPr wrap="square" lIns="0" tIns="0" rIns="0" bIns="0" rtlCol="0" anchor="t"/>
          <a:lstStyle/>
          <a:p>
            <a:pPr indent="0" marL="0">
              <a:buNone/>
            </a:pPr>
            <a:r>
              <a:rPr lang="en-US" sz="1100" dirty="0">
                <a:solidFill>
                  <a:srgbClr val="5B6B63"/>
                </a:solidFill>
              </a:rPr>
              <a:t>Cada defecto deja una prueba</a:t>
            </a:r>
            <a:endParaRPr lang="en-US" sz="1100" dirty="0"/>
          </a:p>
        </p:txBody>
      </p:sp>
      <p:sp>
        <p:nvSpPr>
          <p:cNvPr id="28" name="Shape 26"/>
          <p:cNvSpPr/>
          <p:nvPr/>
        </p:nvSpPr>
        <p:spPr>
          <a:xfrm>
            <a:off x="3584448" y="2971800"/>
            <a:ext cx="1920240" cy="1554480"/>
          </a:xfrm>
          <a:prstGeom prst="roundRect">
            <a:avLst>
              <a:gd name="adj" fmla="val 4706"/>
            </a:avLst>
          </a:prstGeom>
          <a:solidFill>
            <a:srgbClr val="EAF3E4"/>
          </a:solidFill>
          <a:ln w="12700">
            <a:solidFill>
              <a:srgbClr val="EAF3E4"/>
            </a:solidFill>
            <a:prstDash val="solid"/>
          </a:ln>
        </p:spPr>
      </p:sp>
      <p:sp>
        <p:nvSpPr>
          <p:cNvPr id="29" name="Shape 27"/>
          <p:cNvSpPr/>
          <p:nvPr/>
        </p:nvSpPr>
        <p:spPr>
          <a:xfrm>
            <a:off x="3721608" y="3108960"/>
            <a:ext cx="457200" cy="457200"/>
          </a:xfrm>
          <a:prstGeom prst="ellipse">
            <a:avLst/>
          </a:prstGeom>
          <a:solidFill>
            <a:srgbClr val="2E7D57"/>
          </a:solidFill>
          <a:ln w="12700">
            <a:solidFill>
              <a:srgbClr val="2E7D57"/>
            </a:solidFill>
            <a:prstDash val="solid"/>
          </a:ln>
        </p:spPr>
      </p:sp>
      <p:sp>
        <p:nvSpPr>
          <p:cNvPr id="30" name="Text 28"/>
          <p:cNvSpPr txBox="1"/>
          <p:nvPr/>
        </p:nvSpPr>
        <p:spPr>
          <a:xfrm>
            <a:off x="3721608"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3721608" y="3630168"/>
            <a:ext cx="1691640" cy="411480"/>
          </a:xfrm>
          <a:prstGeom prst="rect">
            <a:avLst/>
          </a:prstGeom>
          <a:noFill/>
          <a:ln/>
        </p:spPr>
        <p:txBody>
          <a:bodyPr wrap="square" lIns="0" tIns="0" rIns="0" bIns="0" rtlCol="0" anchor="b"/>
          <a:lstStyle/>
          <a:p>
            <a:pPr indent="0" marL="0">
              <a:buNone/>
            </a:pPr>
            <a:r>
              <a:rPr lang="en-US" sz="1300" b="1" dirty="0">
                <a:solidFill>
                  <a:srgbClr val="1F4D3A"/>
                </a:solidFill>
              </a:rPr>
              <a:t>Decisiones con evidencia</a:t>
            </a:r>
            <a:endParaRPr lang="en-US" sz="1300" dirty="0"/>
          </a:p>
        </p:txBody>
      </p:sp>
      <p:sp>
        <p:nvSpPr>
          <p:cNvPr id="32" name="Text 30"/>
          <p:cNvSpPr txBox="1"/>
          <p:nvPr/>
        </p:nvSpPr>
        <p:spPr>
          <a:xfrm>
            <a:off x="3721608" y="4087368"/>
            <a:ext cx="1691640" cy="384048"/>
          </a:xfrm>
          <a:prstGeom prst="rect">
            <a:avLst/>
          </a:prstGeom>
          <a:noFill/>
          <a:ln/>
        </p:spPr>
        <p:txBody>
          <a:bodyPr wrap="square" lIns="0" tIns="0" rIns="0" bIns="0" rtlCol="0" anchor="t"/>
          <a:lstStyle/>
          <a:p>
            <a:pPr indent="0" marL="0">
              <a:buNone/>
            </a:pPr>
            <a:r>
              <a:rPr lang="en-US" sz="1100" dirty="0">
                <a:solidFill>
                  <a:srgbClr val="5B6B63"/>
                </a:solidFill>
              </a:rPr>
              <a:t>Cobertura y defectos medidos</a:t>
            </a:r>
            <a:endParaRPr lang="en-US" sz="1100" dirty="0"/>
          </a:p>
        </p:txBody>
      </p:sp>
      <p:sp>
        <p:nvSpPr>
          <p:cNvPr id="33" name="Shape 31"/>
          <p:cNvSpPr/>
          <p:nvPr/>
        </p:nvSpPr>
        <p:spPr>
          <a:xfrm>
            <a:off x="5669280" y="2971800"/>
            <a:ext cx="1920240" cy="1554480"/>
          </a:xfrm>
          <a:prstGeom prst="roundRect">
            <a:avLst>
              <a:gd name="adj" fmla="val 4706"/>
            </a:avLst>
          </a:prstGeom>
          <a:solidFill>
            <a:srgbClr val="EAF3E4"/>
          </a:solidFill>
          <a:ln w="12700">
            <a:solidFill>
              <a:srgbClr val="EAF3E4"/>
            </a:solidFill>
            <a:prstDash val="solid"/>
          </a:ln>
        </p:spPr>
      </p:sp>
      <p:sp>
        <p:nvSpPr>
          <p:cNvPr id="34" name="Shape 32"/>
          <p:cNvSpPr/>
          <p:nvPr/>
        </p:nvSpPr>
        <p:spPr>
          <a:xfrm>
            <a:off x="5806440" y="3108960"/>
            <a:ext cx="457200" cy="457200"/>
          </a:xfrm>
          <a:prstGeom prst="ellipse">
            <a:avLst/>
          </a:prstGeom>
          <a:solidFill>
            <a:srgbClr val="2E7D57"/>
          </a:solidFill>
          <a:ln w="12700">
            <a:solidFill>
              <a:srgbClr val="2E7D57"/>
            </a:solidFill>
            <a:prstDash val="solid"/>
          </a:ln>
        </p:spPr>
      </p:sp>
      <p:sp>
        <p:nvSpPr>
          <p:cNvPr id="35" name="Text 33"/>
          <p:cNvSpPr txBox="1"/>
          <p:nvPr/>
        </p:nvSpPr>
        <p:spPr>
          <a:xfrm>
            <a:off x="5806440"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6" name="Text 34"/>
          <p:cNvSpPr txBox="1"/>
          <p:nvPr/>
        </p:nvSpPr>
        <p:spPr>
          <a:xfrm>
            <a:off x="5806440" y="3630168"/>
            <a:ext cx="1691640" cy="411480"/>
          </a:xfrm>
          <a:prstGeom prst="rect">
            <a:avLst/>
          </a:prstGeom>
          <a:noFill/>
          <a:ln/>
        </p:spPr>
        <p:txBody>
          <a:bodyPr wrap="square" lIns="0" tIns="0" rIns="0" bIns="0" rtlCol="0" anchor="b"/>
          <a:lstStyle/>
          <a:p>
            <a:pPr indent="0" marL="0">
              <a:buNone/>
            </a:pPr>
            <a:r>
              <a:rPr lang="en-US" sz="1300" b="1" dirty="0">
                <a:solidFill>
                  <a:srgbClr val="1F4D3A"/>
                </a:solidFill>
              </a:rPr>
              <a:t>Gestión de las relaciones</a:t>
            </a:r>
            <a:endParaRPr lang="en-US" sz="1300" dirty="0"/>
          </a:p>
        </p:txBody>
      </p:sp>
      <p:sp>
        <p:nvSpPr>
          <p:cNvPr id="37" name="Text 35"/>
          <p:cNvSpPr txBox="1"/>
          <p:nvPr/>
        </p:nvSpPr>
        <p:spPr>
          <a:xfrm>
            <a:off x="5806440" y="4087368"/>
            <a:ext cx="1691640" cy="384048"/>
          </a:xfrm>
          <a:prstGeom prst="rect">
            <a:avLst/>
          </a:prstGeom>
          <a:noFill/>
          <a:ln/>
        </p:spPr>
        <p:txBody>
          <a:bodyPr wrap="square" lIns="0" tIns="0" rIns="0" bIns="0" rtlCol="0" anchor="t"/>
          <a:lstStyle/>
          <a:p>
            <a:pPr indent="0" marL="0">
              <a:buNone/>
            </a:pPr>
            <a:r>
              <a:rPr lang="en-US" sz="1100" dirty="0">
                <a:solidFill>
                  <a:srgbClr val="5B6B63"/>
                </a:solidFill>
              </a:rPr>
              <a:t>Dependencias npm controladas</a:t>
            </a:r>
            <a:endParaRPr lang="en-US" sz="11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De inspeccionar al final a prevenir en todo el proceso</a:t>
            </a:r>
            <a:endParaRPr lang="en-US" sz="2400" dirty="0"/>
          </a:p>
        </p:txBody>
      </p:sp>
      <p:sp>
        <p:nvSpPr>
          <p:cNvPr id="3" name="Shape 1"/>
          <p:cNvSpPr/>
          <p:nvPr/>
        </p:nvSpPr>
        <p:spPr>
          <a:xfrm>
            <a:off x="731520" y="2148840"/>
            <a:ext cx="7680960" cy="0"/>
          </a:xfrm>
          <a:prstGeom prst="line">
            <a:avLst/>
          </a:prstGeom>
          <a:noFill/>
          <a:ln w="38100">
            <a:solidFill>
              <a:srgbClr val="7FB069"/>
            </a:solidFill>
            <a:prstDash val="solid"/>
          </a:ln>
        </p:spPr>
      </p:sp>
      <p:sp>
        <p:nvSpPr>
          <p:cNvPr id="4" name="Shape 2"/>
          <p:cNvSpPr/>
          <p:nvPr/>
        </p:nvSpPr>
        <p:spPr>
          <a:xfrm>
            <a:off x="822960" y="1783080"/>
            <a:ext cx="731520" cy="731520"/>
          </a:xfrm>
          <a:prstGeom prst="ellipse">
            <a:avLst/>
          </a:prstGeom>
          <a:solidFill>
            <a:srgbClr val="1F4D3A"/>
          </a:solidFill>
          <a:ln w="12700">
            <a:solidFill>
              <a:srgbClr val="1F4D3A"/>
            </a:solidFill>
            <a:prstDash val="solid"/>
          </a:ln>
        </p:spPr>
      </p:sp>
      <p:sp>
        <p:nvSpPr>
          <p:cNvPr id="5" name="Text 3"/>
          <p:cNvSpPr txBox="1"/>
          <p:nvPr/>
        </p:nvSpPr>
        <p:spPr>
          <a:xfrm>
            <a:off x="822960" y="178308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rPr>
              <a:t>1987</a:t>
            </a:r>
            <a:endParaRPr lang="en-US" sz="1300" dirty="0"/>
          </a:p>
        </p:txBody>
      </p:sp>
      <p:sp>
        <p:nvSpPr>
          <p:cNvPr id="6" name="Text 4"/>
          <p:cNvSpPr txBox="1"/>
          <p:nvPr/>
        </p:nvSpPr>
        <p:spPr>
          <a:xfrm>
            <a:off x="457200" y="2697480"/>
            <a:ext cx="1508760" cy="502920"/>
          </a:xfrm>
          <a:prstGeom prst="rect">
            <a:avLst/>
          </a:prstGeom>
          <a:noFill/>
          <a:ln/>
        </p:spPr>
        <p:txBody>
          <a:bodyPr wrap="square" lIns="0" tIns="0" rIns="0" bIns="0" rtlCol="0" anchor="t"/>
          <a:lstStyle/>
          <a:p>
            <a:pPr algn="ctr" indent="0" marL="0">
              <a:buNone/>
            </a:pPr>
            <a:r>
              <a:rPr lang="en-US" sz="1300" b="1" dirty="0">
                <a:solidFill>
                  <a:srgbClr val="1F4D3A"/>
                </a:solidFill>
              </a:rPr>
              <a:t>Nacen ISO 9001, 9002 y 9003</a:t>
            </a:r>
            <a:endParaRPr lang="en-US" sz="1300" dirty="0"/>
          </a:p>
        </p:txBody>
      </p:sp>
      <p:sp>
        <p:nvSpPr>
          <p:cNvPr id="7" name="Text 5"/>
          <p:cNvSpPr txBox="1"/>
          <p:nvPr/>
        </p:nvSpPr>
        <p:spPr>
          <a:xfrm>
            <a:off x="457200" y="3200400"/>
            <a:ext cx="1508760" cy="1005840"/>
          </a:xfrm>
          <a:prstGeom prst="rect">
            <a:avLst/>
          </a:prstGeom>
          <a:noFill/>
          <a:ln/>
        </p:spPr>
        <p:txBody>
          <a:bodyPr wrap="square" lIns="0" tIns="0" rIns="0" bIns="0" rtlCol="0" anchor="t"/>
          <a:lstStyle/>
          <a:p>
            <a:pPr algn="ctr" indent="0" marL="0">
              <a:buNone/>
            </a:pPr>
            <a:r>
              <a:rPr lang="en-US" sz="1100" dirty="0">
                <a:solidFill>
                  <a:srgbClr val="5B6B63"/>
                </a:solidFill>
              </a:rPr>
              <a:t>Tres modelos de aseguramiento</a:t>
            </a:r>
            <a:endParaRPr lang="en-US" sz="1100" dirty="0"/>
          </a:p>
        </p:txBody>
      </p:sp>
      <p:sp>
        <p:nvSpPr>
          <p:cNvPr id="8" name="Shape 6"/>
          <p:cNvSpPr/>
          <p:nvPr/>
        </p:nvSpPr>
        <p:spPr>
          <a:xfrm>
            <a:off x="2514600" y="1783080"/>
            <a:ext cx="731520" cy="731520"/>
          </a:xfrm>
          <a:prstGeom prst="ellipse">
            <a:avLst/>
          </a:prstGeom>
          <a:solidFill>
            <a:srgbClr val="1F4D3A"/>
          </a:solidFill>
          <a:ln w="12700">
            <a:solidFill>
              <a:srgbClr val="1F4D3A"/>
            </a:solidFill>
            <a:prstDash val="solid"/>
          </a:ln>
        </p:spPr>
      </p:sp>
      <p:sp>
        <p:nvSpPr>
          <p:cNvPr id="9" name="Text 7"/>
          <p:cNvSpPr txBox="1"/>
          <p:nvPr/>
        </p:nvSpPr>
        <p:spPr>
          <a:xfrm>
            <a:off x="2514600" y="178308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rPr>
              <a:t>1994</a:t>
            </a:r>
            <a:endParaRPr lang="en-US" sz="1300" dirty="0"/>
          </a:p>
        </p:txBody>
      </p:sp>
      <p:sp>
        <p:nvSpPr>
          <p:cNvPr id="10" name="Text 8"/>
          <p:cNvSpPr txBox="1"/>
          <p:nvPr/>
        </p:nvSpPr>
        <p:spPr>
          <a:xfrm>
            <a:off x="2148840" y="2697480"/>
            <a:ext cx="1508760" cy="502920"/>
          </a:xfrm>
          <a:prstGeom prst="rect">
            <a:avLst/>
          </a:prstGeom>
          <a:noFill/>
          <a:ln/>
        </p:spPr>
        <p:txBody>
          <a:bodyPr wrap="square" lIns="0" tIns="0" rIns="0" bIns="0" rtlCol="0" anchor="t"/>
          <a:lstStyle/>
          <a:p>
            <a:pPr algn="ctr" indent="0" marL="0">
              <a:buNone/>
            </a:pPr>
            <a:r>
              <a:rPr lang="en-US" sz="1300" b="1" dirty="0">
                <a:solidFill>
                  <a:srgbClr val="1F4D3A"/>
                </a:solidFill>
              </a:rPr>
              <a:t>Primera revisión</a:t>
            </a:r>
            <a:endParaRPr lang="en-US" sz="1300" dirty="0"/>
          </a:p>
        </p:txBody>
      </p:sp>
      <p:sp>
        <p:nvSpPr>
          <p:cNvPr id="11" name="Text 9"/>
          <p:cNvSpPr txBox="1"/>
          <p:nvPr/>
        </p:nvSpPr>
        <p:spPr>
          <a:xfrm>
            <a:off x="2148840" y="3200400"/>
            <a:ext cx="1508760" cy="1005840"/>
          </a:xfrm>
          <a:prstGeom prst="rect">
            <a:avLst/>
          </a:prstGeom>
          <a:noFill/>
          <a:ln/>
        </p:spPr>
        <p:txBody>
          <a:bodyPr wrap="square" lIns="0" tIns="0" rIns="0" bIns="0" rtlCol="0" anchor="t"/>
          <a:lstStyle/>
          <a:p>
            <a:pPr algn="ctr" indent="0" marL="0">
              <a:buNone/>
            </a:pPr>
            <a:r>
              <a:rPr lang="en-US" sz="1100" dirty="0">
                <a:solidFill>
                  <a:srgbClr val="5B6B63"/>
                </a:solidFill>
              </a:rPr>
              <a:t>9002: producción e instalación, sin diseño. 9003: solo inspección final</a:t>
            </a:r>
            <a:endParaRPr lang="en-US" sz="1100" dirty="0"/>
          </a:p>
        </p:txBody>
      </p:sp>
      <p:sp>
        <p:nvSpPr>
          <p:cNvPr id="12" name="Shape 10"/>
          <p:cNvSpPr/>
          <p:nvPr/>
        </p:nvSpPr>
        <p:spPr>
          <a:xfrm>
            <a:off x="4206240" y="1783080"/>
            <a:ext cx="731520" cy="731520"/>
          </a:xfrm>
          <a:prstGeom prst="ellipse">
            <a:avLst/>
          </a:prstGeom>
          <a:solidFill>
            <a:srgbClr val="1F4D3A"/>
          </a:solidFill>
          <a:ln w="12700">
            <a:solidFill>
              <a:srgbClr val="1F4D3A"/>
            </a:solidFill>
            <a:prstDash val="solid"/>
          </a:ln>
        </p:spPr>
      </p:sp>
      <p:sp>
        <p:nvSpPr>
          <p:cNvPr id="13" name="Text 11"/>
          <p:cNvSpPr txBox="1"/>
          <p:nvPr/>
        </p:nvSpPr>
        <p:spPr>
          <a:xfrm>
            <a:off x="4206240" y="178308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rPr>
              <a:t>2000</a:t>
            </a:r>
            <a:endParaRPr lang="en-US" sz="1300" dirty="0"/>
          </a:p>
        </p:txBody>
      </p:sp>
      <p:sp>
        <p:nvSpPr>
          <p:cNvPr id="14" name="Text 12"/>
          <p:cNvSpPr txBox="1"/>
          <p:nvPr/>
        </p:nvSpPr>
        <p:spPr>
          <a:xfrm>
            <a:off x="3840480" y="2697480"/>
            <a:ext cx="1508760" cy="502920"/>
          </a:xfrm>
          <a:prstGeom prst="rect">
            <a:avLst/>
          </a:prstGeom>
          <a:noFill/>
          <a:ln/>
        </p:spPr>
        <p:txBody>
          <a:bodyPr wrap="square" lIns="0" tIns="0" rIns="0" bIns="0" rtlCol="0" anchor="t"/>
          <a:lstStyle/>
          <a:p>
            <a:pPr algn="ctr" indent="0" marL="0">
              <a:buNone/>
            </a:pPr>
            <a:r>
              <a:rPr lang="en-US" sz="1300" b="1" dirty="0">
                <a:solidFill>
                  <a:srgbClr val="1F4D3A"/>
                </a:solidFill>
              </a:rPr>
              <a:t>9002 y 9003 se retiran</a:t>
            </a:r>
            <a:endParaRPr lang="en-US" sz="1300" dirty="0"/>
          </a:p>
        </p:txBody>
      </p:sp>
      <p:sp>
        <p:nvSpPr>
          <p:cNvPr id="15" name="Text 13"/>
          <p:cNvSpPr txBox="1"/>
          <p:nvPr/>
        </p:nvSpPr>
        <p:spPr>
          <a:xfrm>
            <a:off x="3840480" y="3200400"/>
            <a:ext cx="1508760" cy="1005840"/>
          </a:xfrm>
          <a:prstGeom prst="rect">
            <a:avLst/>
          </a:prstGeom>
          <a:noFill/>
          <a:ln/>
        </p:spPr>
        <p:txBody>
          <a:bodyPr wrap="square" lIns="0" tIns="0" rIns="0" bIns="0" rtlCol="0" anchor="t"/>
          <a:lstStyle/>
          <a:p>
            <a:pPr algn="ctr" indent="0" marL="0">
              <a:buNone/>
            </a:pPr>
            <a:r>
              <a:rPr lang="en-US" sz="1100" dirty="0">
                <a:solidFill>
                  <a:srgbClr val="5B6B63"/>
                </a:solidFill>
              </a:rPr>
              <a:t>Todo se integra en ISO 9001 con enfoque a procesos</a:t>
            </a:r>
            <a:endParaRPr lang="en-US" sz="1100" dirty="0"/>
          </a:p>
        </p:txBody>
      </p:sp>
      <p:sp>
        <p:nvSpPr>
          <p:cNvPr id="16" name="Shape 14"/>
          <p:cNvSpPr/>
          <p:nvPr/>
        </p:nvSpPr>
        <p:spPr>
          <a:xfrm>
            <a:off x="5897880" y="1783080"/>
            <a:ext cx="731520" cy="731520"/>
          </a:xfrm>
          <a:prstGeom prst="ellipse">
            <a:avLst/>
          </a:prstGeom>
          <a:solidFill>
            <a:srgbClr val="1F4D3A"/>
          </a:solidFill>
          <a:ln w="12700">
            <a:solidFill>
              <a:srgbClr val="1F4D3A"/>
            </a:solidFill>
            <a:prstDash val="solid"/>
          </a:ln>
        </p:spPr>
      </p:sp>
      <p:sp>
        <p:nvSpPr>
          <p:cNvPr id="17" name="Text 15"/>
          <p:cNvSpPr txBox="1"/>
          <p:nvPr/>
        </p:nvSpPr>
        <p:spPr>
          <a:xfrm>
            <a:off x="5897880" y="178308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rPr>
              <a:t>2015</a:t>
            </a:r>
            <a:endParaRPr lang="en-US" sz="1300" dirty="0"/>
          </a:p>
        </p:txBody>
      </p:sp>
      <p:sp>
        <p:nvSpPr>
          <p:cNvPr id="18" name="Text 16"/>
          <p:cNvSpPr txBox="1"/>
          <p:nvPr/>
        </p:nvSpPr>
        <p:spPr>
          <a:xfrm>
            <a:off x="5532120" y="2697480"/>
            <a:ext cx="1508760" cy="502920"/>
          </a:xfrm>
          <a:prstGeom prst="rect">
            <a:avLst/>
          </a:prstGeom>
          <a:noFill/>
          <a:ln/>
        </p:spPr>
        <p:txBody>
          <a:bodyPr wrap="square" lIns="0" tIns="0" rIns="0" bIns="0" rtlCol="0" anchor="t"/>
          <a:lstStyle/>
          <a:p>
            <a:pPr algn="ctr" indent="0" marL="0">
              <a:buNone/>
            </a:pPr>
            <a:r>
              <a:rPr lang="en-US" sz="1300" b="1" dirty="0">
                <a:solidFill>
                  <a:srgbClr val="1F4D3A"/>
                </a:solidFill>
              </a:rPr>
              <a:t>Estructura de alto nivel</a:t>
            </a:r>
            <a:endParaRPr lang="en-US" sz="1300" dirty="0"/>
          </a:p>
        </p:txBody>
      </p:sp>
      <p:sp>
        <p:nvSpPr>
          <p:cNvPr id="19" name="Text 17"/>
          <p:cNvSpPr txBox="1"/>
          <p:nvPr/>
        </p:nvSpPr>
        <p:spPr>
          <a:xfrm>
            <a:off x="5532120" y="3200400"/>
            <a:ext cx="1508760" cy="1005840"/>
          </a:xfrm>
          <a:prstGeom prst="rect">
            <a:avLst/>
          </a:prstGeom>
          <a:noFill/>
          <a:ln/>
        </p:spPr>
        <p:txBody>
          <a:bodyPr wrap="square" lIns="0" tIns="0" rIns="0" bIns="0" rtlCol="0" anchor="t"/>
          <a:lstStyle/>
          <a:p>
            <a:pPr algn="ctr" indent="0" marL="0">
              <a:buNone/>
            </a:pPr>
            <a:r>
              <a:rPr lang="en-US" sz="1100" dirty="0">
                <a:solidFill>
                  <a:srgbClr val="5B6B63"/>
                </a:solidFill>
              </a:rPr>
              <a:t>Pensamiento basado en riesgos</a:t>
            </a:r>
            <a:endParaRPr lang="en-US" sz="1100" dirty="0"/>
          </a:p>
        </p:txBody>
      </p:sp>
      <p:sp>
        <p:nvSpPr>
          <p:cNvPr id="20" name="Shape 18"/>
          <p:cNvSpPr/>
          <p:nvPr/>
        </p:nvSpPr>
        <p:spPr>
          <a:xfrm>
            <a:off x="7589520" y="1783080"/>
            <a:ext cx="731520" cy="731520"/>
          </a:xfrm>
          <a:prstGeom prst="ellipse">
            <a:avLst/>
          </a:prstGeom>
          <a:solidFill>
            <a:srgbClr val="E9A23B"/>
          </a:solidFill>
          <a:ln w="12700">
            <a:solidFill>
              <a:srgbClr val="E9A23B"/>
            </a:solidFill>
            <a:prstDash val="solid"/>
          </a:ln>
        </p:spPr>
      </p:sp>
      <p:sp>
        <p:nvSpPr>
          <p:cNvPr id="21" name="Text 19"/>
          <p:cNvSpPr txBox="1"/>
          <p:nvPr/>
        </p:nvSpPr>
        <p:spPr>
          <a:xfrm>
            <a:off x="7589520" y="1783080"/>
            <a:ext cx="731520" cy="731520"/>
          </a:xfrm>
          <a:prstGeom prst="rect">
            <a:avLst/>
          </a:prstGeom>
          <a:noFill/>
          <a:ln/>
        </p:spPr>
        <p:txBody>
          <a:bodyPr wrap="square" lIns="0" tIns="0" rIns="0" bIns="0" rtlCol="0" anchor="ctr"/>
          <a:lstStyle/>
          <a:p>
            <a:pPr algn="ctr" indent="0" marL="0">
              <a:buNone/>
            </a:pPr>
            <a:r>
              <a:rPr lang="en-US" sz="1300" b="1" dirty="0">
                <a:solidFill>
                  <a:srgbClr val="1F4D3A"/>
                </a:solidFill>
              </a:rPr>
              <a:t>2026</a:t>
            </a:r>
            <a:endParaRPr lang="en-US" sz="1300" dirty="0"/>
          </a:p>
        </p:txBody>
      </p:sp>
      <p:sp>
        <p:nvSpPr>
          <p:cNvPr id="22" name="Text 20"/>
          <p:cNvSpPr txBox="1"/>
          <p:nvPr/>
        </p:nvSpPr>
        <p:spPr>
          <a:xfrm>
            <a:off x="7223760" y="2697480"/>
            <a:ext cx="1508760" cy="502920"/>
          </a:xfrm>
          <a:prstGeom prst="rect">
            <a:avLst/>
          </a:prstGeom>
          <a:noFill/>
          <a:ln/>
        </p:spPr>
        <p:txBody>
          <a:bodyPr wrap="square" lIns="0" tIns="0" rIns="0" bIns="0" rtlCol="0" anchor="t"/>
          <a:lstStyle/>
          <a:p>
            <a:pPr algn="ctr" indent="0" marL="0">
              <a:buNone/>
            </a:pPr>
            <a:r>
              <a:rPr lang="en-US" sz="1300" b="1" dirty="0">
                <a:solidFill>
                  <a:srgbClr val="1F4D3A"/>
                </a:solidFill>
              </a:rPr>
              <a:t>Sexta edición</a:t>
            </a:r>
            <a:endParaRPr lang="en-US" sz="1300" dirty="0"/>
          </a:p>
        </p:txBody>
      </p:sp>
      <p:sp>
        <p:nvSpPr>
          <p:cNvPr id="23" name="Text 21"/>
          <p:cNvSpPr txBox="1"/>
          <p:nvPr/>
        </p:nvSpPr>
        <p:spPr>
          <a:xfrm>
            <a:off x="7223760" y="3200400"/>
            <a:ext cx="1508760" cy="1005840"/>
          </a:xfrm>
          <a:prstGeom prst="rect">
            <a:avLst/>
          </a:prstGeom>
          <a:noFill/>
          <a:ln/>
        </p:spPr>
        <p:txBody>
          <a:bodyPr wrap="square" lIns="0" tIns="0" rIns="0" bIns="0" rtlCol="0" anchor="t"/>
          <a:lstStyle/>
          <a:p>
            <a:pPr algn="ctr" indent="0" marL="0">
              <a:buNone/>
            </a:pPr>
            <a:r>
              <a:rPr lang="en-US" sz="1100" dirty="0">
                <a:solidFill>
                  <a:srgbClr val="5B6B63"/>
                </a:solidFill>
              </a:rPr>
              <a:t>Cambios planificados y cultura de calidad</a:t>
            </a:r>
            <a:endParaRPr lang="en-US" sz="1100" dirty="0"/>
          </a:p>
        </p:txBody>
      </p:sp>
      <p:sp>
        <p:nvSpPr>
          <p:cNvPr id="24" name="Text 22"/>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300" i="1" dirty="0">
                <a:solidFill>
                  <a:srgbClr val="2E7D57"/>
                </a:solidFill>
              </a:rPr>
              <a:t>En software, la antigua ISO 9003 equivale a probar solo al final del proyecto.</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ISO 9001:2026 refuerza la gestión de los cambios</a:t>
            </a:r>
            <a:endParaRPr lang="en-US" sz="2400" dirty="0"/>
          </a:p>
        </p:txBody>
      </p:sp>
      <p:sp>
        <p:nvSpPr>
          <p:cNvPr id="3" name="Shape 1"/>
          <p:cNvSpPr/>
          <p:nvPr/>
        </p:nvSpPr>
        <p:spPr>
          <a:xfrm>
            <a:off x="457200" y="1188720"/>
            <a:ext cx="5120640" cy="914400"/>
          </a:xfrm>
          <a:prstGeom prst="roundRect">
            <a:avLst>
              <a:gd name="adj" fmla="val 8000"/>
            </a:avLst>
          </a:prstGeom>
          <a:solidFill>
            <a:srgbClr val="EAF3E4"/>
          </a:solidFill>
          <a:ln w="12700">
            <a:solidFill>
              <a:srgbClr val="EAF3E4"/>
            </a:solidFill>
            <a:prstDash val="solid"/>
          </a:ln>
        </p:spPr>
      </p:sp>
      <p:sp>
        <p:nvSpPr>
          <p:cNvPr id="4" name="Shape 2"/>
          <p:cNvSpPr/>
          <p:nvPr/>
        </p:nvSpPr>
        <p:spPr>
          <a:xfrm>
            <a:off x="640080" y="1371600"/>
            <a:ext cx="548640" cy="548640"/>
          </a:xfrm>
          <a:prstGeom prst="ellipse">
            <a:avLst/>
          </a:prstGeom>
          <a:solidFill>
            <a:srgbClr val="2E7D57"/>
          </a:solidFill>
          <a:ln w="12700">
            <a:solidFill>
              <a:srgbClr val="2E7D57"/>
            </a:solidFill>
            <a:prstDash val="solid"/>
          </a:ln>
        </p:spPr>
      </p:sp>
      <p:sp>
        <p:nvSpPr>
          <p:cNvPr id="5" name="Text 3"/>
          <p:cNvSpPr txBox="1"/>
          <p:nvPr/>
        </p:nvSpPr>
        <p:spPr>
          <a:xfrm>
            <a:off x="640080" y="13716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71600" y="1298448"/>
            <a:ext cx="4023360" cy="320040"/>
          </a:xfrm>
          <a:prstGeom prst="rect">
            <a:avLst/>
          </a:prstGeom>
          <a:noFill/>
          <a:ln/>
        </p:spPr>
        <p:txBody>
          <a:bodyPr wrap="square" lIns="0" tIns="0" rIns="0" bIns="0" rtlCol="0" anchor="t"/>
          <a:lstStyle/>
          <a:p>
            <a:pPr indent="0" marL="0">
              <a:buNone/>
            </a:pPr>
            <a:r>
              <a:rPr lang="en-US" sz="1500" b="1" dirty="0">
                <a:solidFill>
                  <a:srgbClr val="1F4D3A"/>
                </a:solidFill>
              </a:rPr>
              <a:t>Cultura de calidad</a:t>
            </a:r>
            <a:endParaRPr lang="en-US" sz="1500" dirty="0"/>
          </a:p>
        </p:txBody>
      </p:sp>
      <p:sp>
        <p:nvSpPr>
          <p:cNvPr id="7" name="Text 5"/>
          <p:cNvSpPr txBox="1"/>
          <p:nvPr/>
        </p:nvSpPr>
        <p:spPr>
          <a:xfrm>
            <a:off x="1371600" y="1627632"/>
            <a:ext cx="4023360" cy="411480"/>
          </a:xfrm>
          <a:prstGeom prst="rect">
            <a:avLst/>
          </a:prstGeom>
          <a:noFill/>
          <a:ln/>
        </p:spPr>
        <p:txBody>
          <a:bodyPr wrap="square" lIns="0" tIns="0" rIns="0" bIns="0" rtlCol="0" anchor="t"/>
          <a:lstStyle/>
          <a:p>
            <a:pPr indent="0" marL="0">
              <a:buNone/>
            </a:pPr>
            <a:r>
              <a:rPr lang="en-US" sz="1200" dirty="0">
                <a:solidFill>
                  <a:srgbClr val="5B6B63"/>
                </a:solidFill>
              </a:rPr>
              <a:t>La cultura y el comportamiento ético entran en los requisitos de liderazgo.</a:t>
            </a:r>
            <a:endParaRPr lang="en-US" sz="1200" dirty="0"/>
          </a:p>
        </p:txBody>
      </p:sp>
      <p:sp>
        <p:nvSpPr>
          <p:cNvPr id="8" name="Shape 6"/>
          <p:cNvSpPr/>
          <p:nvPr/>
        </p:nvSpPr>
        <p:spPr>
          <a:xfrm>
            <a:off x="457200" y="2240280"/>
            <a:ext cx="5120640" cy="914400"/>
          </a:xfrm>
          <a:prstGeom prst="roundRect">
            <a:avLst>
              <a:gd name="adj" fmla="val 8000"/>
            </a:avLst>
          </a:prstGeom>
          <a:solidFill>
            <a:srgbClr val="EAF3E4"/>
          </a:solidFill>
          <a:ln w="12700">
            <a:solidFill>
              <a:srgbClr val="EAF3E4"/>
            </a:solidFill>
            <a:prstDash val="solid"/>
          </a:ln>
        </p:spPr>
      </p:sp>
      <p:sp>
        <p:nvSpPr>
          <p:cNvPr id="9" name="Shape 7"/>
          <p:cNvSpPr/>
          <p:nvPr/>
        </p:nvSpPr>
        <p:spPr>
          <a:xfrm>
            <a:off x="640080" y="2423160"/>
            <a:ext cx="548640" cy="548640"/>
          </a:xfrm>
          <a:prstGeom prst="ellipse">
            <a:avLst/>
          </a:prstGeom>
          <a:solidFill>
            <a:srgbClr val="2E7D57"/>
          </a:solidFill>
          <a:ln w="12700">
            <a:solidFill>
              <a:srgbClr val="2E7D57"/>
            </a:solidFill>
            <a:prstDash val="solid"/>
          </a:ln>
        </p:spPr>
      </p:sp>
      <p:sp>
        <p:nvSpPr>
          <p:cNvPr id="10" name="Text 8"/>
          <p:cNvSpPr txBox="1"/>
          <p:nvPr/>
        </p:nvSpPr>
        <p:spPr>
          <a:xfrm>
            <a:off x="640080" y="242316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2350008"/>
            <a:ext cx="4023360" cy="320040"/>
          </a:xfrm>
          <a:prstGeom prst="rect">
            <a:avLst/>
          </a:prstGeom>
          <a:noFill/>
          <a:ln/>
        </p:spPr>
        <p:txBody>
          <a:bodyPr wrap="square" lIns="0" tIns="0" rIns="0" bIns="0" rtlCol="0" anchor="t"/>
          <a:lstStyle/>
          <a:p>
            <a:pPr indent="0" marL="0">
              <a:buNone/>
            </a:pPr>
            <a:r>
              <a:rPr lang="en-US" sz="1500" b="1" dirty="0">
                <a:solidFill>
                  <a:srgbClr val="1F4D3A"/>
                </a:solidFill>
              </a:rPr>
              <a:t>Riesgos y oportunidades</a:t>
            </a:r>
            <a:endParaRPr lang="en-US" sz="1500" dirty="0"/>
          </a:p>
        </p:txBody>
      </p:sp>
      <p:sp>
        <p:nvSpPr>
          <p:cNvPr id="12" name="Text 10"/>
          <p:cNvSpPr txBox="1"/>
          <p:nvPr/>
        </p:nvSpPr>
        <p:spPr>
          <a:xfrm>
            <a:off x="1371600" y="2679192"/>
            <a:ext cx="4023360" cy="411480"/>
          </a:xfrm>
          <a:prstGeom prst="rect">
            <a:avLst/>
          </a:prstGeom>
          <a:noFill/>
          <a:ln/>
        </p:spPr>
        <p:txBody>
          <a:bodyPr wrap="square" lIns="0" tIns="0" rIns="0" bIns="0" rtlCol="0" anchor="t"/>
          <a:lstStyle/>
          <a:p>
            <a:pPr indent="0" marL="0">
              <a:buNone/>
            </a:pPr>
            <a:r>
              <a:rPr lang="en-US" sz="1200" dirty="0">
                <a:solidFill>
                  <a:srgbClr val="5B6B63"/>
                </a:solidFill>
              </a:rPr>
              <a:t>Se tratan por separado, cada uno con sus propios requisitos.</a:t>
            </a:r>
            <a:endParaRPr lang="en-US" sz="1200" dirty="0"/>
          </a:p>
        </p:txBody>
      </p:sp>
      <p:sp>
        <p:nvSpPr>
          <p:cNvPr id="13" name="Shape 11"/>
          <p:cNvSpPr/>
          <p:nvPr/>
        </p:nvSpPr>
        <p:spPr>
          <a:xfrm>
            <a:off x="457200" y="3291840"/>
            <a:ext cx="5120640" cy="914400"/>
          </a:xfrm>
          <a:prstGeom prst="roundRect">
            <a:avLst>
              <a:gd name="adj" fmla="val 8000"/>
            </a:avLst>
          </a:prstGeom>
          <a:solidFill>
            <a:srgbClr val="FBEBD2"/>
          </a:solidFill>
          <a:ln w="12700">
            <a:solidFill>
              <a:srgbClr val="FBEBD2"/>
            </a:solidFill>
            <a:prstDash val="solid"/>
          </a:ln>
        </p:spPr>
      </p:sp>
      <p:sp>
        <p:nvSpPr>
          <p:cNvPr id="14" name="Shape 12"/>
          <p:cNvSpPr/>
          <p:nvPr/>
        </p:nvSpPr>
        <p:spPr>
          <a:xfrm>
            <a:off x="640080" y="3474720"/>
            <a:ext cx="548640" cy="548640"/>
          </a:xfrm>
          <a:prstGeom prst="ellipse">
            <a:avLst/>
          </a:prstGeom>
          <a:solidFill>
            <a:srgbClr val="E9A23B"/>
          </a:solidFill>
          <a:ln w="12700">
            <a:solidFill>
              <a:srgbClr val="E9A23B"/>
            </a:solidFill>
            <a:prstDash val="solid"/>
          </a:ln>
        </p:spPr>
      </p:sp>
      <p:sp>
        <p:nvSpPr>
          <p:cNvPr id="15" name="Text 13"/>
          <p:cNvSpPr txBox="1"/>
          <p:nvPr/>
        </p:nvSpPr>
        <p:spPr>
          <a:xfrm>
            <a:off x="640080" y="3474720"/>
            <a:ext cx="548640" cy="548640"/>
          </a:xfrm>
          <a:prstGeom prst="rect">
            <a:avLst/>
          </a:prstGeom>
          <a:noFill/>
          <a:ln/>
        </p:spPr>
        <p:txBody>
          <a:bodyPr wrap="square" lIns="0" tIns="0" rIns="0" bIns="0" rtlCol="0" anchor="ctr"/>
          <a:lstStyle/>
          <a:p>
            <a:pPr algn="ctr" indent="0" marL="0">
              <a:buNone/>
            </a:pPr>
            <a:r>
              <a:rPr lang="en-US" sz="1400" b="1" dirty="0">
                <a:solidFill>
                  <a:srgbClr val="1F4D3A"/>
                </a:solidFill>
              </a:rPr>
              <a:t>3</a:t>
            </a:r>
            <a:endParaRPr lang="en-US" sz="1400" dirty="0"/>
          </a:p>
        </p:txBody>
      </p:sp>
      <p:sp>
        <p:nvSpPr>
          <p:cNvPr id="16" name="Text 14"/>
          <p:cNvSpPr txBox="1"/>
          <p:nvPr/>
        </p:nvSpPr>
        <p:spPr>
          <a:xfrm>
            <a:off x="1371600" y="3401568"/>
            <a:ext cx="4023360" cy="320040"/>
          </a:xfrm>
          <a:prstGeom prst="rect">
            <a:avLst/>
          </a:prstGeom>
          <a:noFill/>
          <a:ln/>
        </p:spPr>
        <p:txBody>
          <a:bodyPr wrap="square" lIns="0" tIns="0" rIns="0" bIns="0" rtlCol="0" anchor="t"/>
          <a:lstStyle/>
          <a:p>
            <a:pPr indent="0" marL="0">
              <a:buNone/>
            </a:pPr>
            <a:r>
              <a:rPr lang="en-US" sz="1500" b="1" dirty="0">
                <a:solidFill>
                  <a:srgbClr val="1F4D3A"/>
                </a:solidFill>
              </a:rPr>
              <a:t>Cambios planificados</a:t>
            </a:r>
            <a:endParaRPr lang="en-US" sz="1500" dirty="0"/>
          </a:p>
        </p:txBody>
      </p:sp>
      <p:sp>
        <p:nvSpPr>
          <p:cNvPr id="17" name="Text 15"/>
          <p:cNvSpPr txBox="1"/>
          <p:nvPr/>
        </p:nvSpPr>
        <p:spPr>
          <a:xfrm>
            <a:off x="1371600" y="3730752"/>
            <a:ext cx="4023360" cy="411480"/>
          </a:xfrm>
          <a:prstGeom prst="rect">
            <a:avLst/>
          </a:prstGeom>
          <a:noFill/>
          <a:ln/>
        </p:spPr>
        <p:txBody>
          <a:bodyPr wrap="square" lIns="0" tIns="0" rIns="0" bIns="0" rtlCol="0" anchor="t"/>
          <a:lstStyle/>
          <a:p>
            <a:pPr indent="0" marL="0">
              <a:buNone/>
            </a:pPr>
            <a:r>
              <a:rPr lang="en-US" sz="1200" dirty="0">
                <a:solidFill>
                  <a:srgbClr val="5B6B63"/>
                </a:solidFill>
              </a:rPr>
              <a:t>Más exigencia para planificar, comunicar, seguir y revisar los cambios del SGC.</a:t>
            </a:r>
            <a:endParaRPr lang="en-US" sz="1200" dirty="0"/>
          </a:p>
        </p:txBody>
      </p:sp>
      <p:sp>
        <p:nvSpPr>
          <p:cNvPr id="18" name="Shape 16"/>
          <p:cNvSpPr/>
          <p:nvPr/>
        </p:nvSpPr>
        <p:spPr>
          <a:xfrm>
            <a:off x="5852160" y="1188720"/>
            <a:ext cx="2834640" cy="3017520"/>
          </a:xfrm>
          <a:prstGeom prst="roundRect">
            <a:avLst>
              <a:gd name="adj" fmla="val 2581"/>
            </a:avLst>
          </a:prstGeom>
          <a:solidFill>
            <a:srgbClr val="1F4D3A"/>
          </a:solidFill>
          <a:ln w="12700">
            <a:solidFill>
              <a:srgbClr val="1F4D3A"/>
            </a:solidFill>
            <a:prstDash val="solid"/>
          </a:ln>
        </p:spPr>
      </p:sp>
      <p:sp>
        <p:nvSpPr>
          <p:cNvPr id="19" name="Text 17"/>
          <p:cNvSpPr txBox="1"/>
          <p:nvPr/>
        </p:nvSpPr>
        <p:spPr>
          <a:xfrm>
            <a:off x="6035040" y="1463040"/>
            <a:ext cx="2468880" cy="640080"/>
          </a:xfrm>
          <a:prstGeom prst="rect">
            <a:avLst/>
          </a:prstGeom>
          <a:noFill/>
          <a:ln/>
        </p:spPr>
        <p:txBody>
          <a:bodyPr wrap="square" lIns="0" tIns="0" rIns="0" bIns="0" rtlCol="0" anchor="t"/>
          <a:lstStyle/>
          <a:p>
            <a:pPr indent="0" marL="0">
              <a:buNone/>
            </a:pPr>
            <a:r>
              <a:rPr lang="en-US" sz="3000" b="1" dirty="0">
                <a:solidFill>
                  <a:srgbClr val="E9A23B"/>
                </a:solidFill>
                <a:latin typeface="Cambria" pitchFamily="34" charset="0"/>
                <a:ea typeface="Cambria" pitchFamily="34" charset="-122"/>
                <a:cs typeface="Cambria" pitchFamily="34" charset="-120"/>
              </a:rPr>
              <a:t>30 sep. 2029</a:t>
            </a:r>
            <a:endParaRPr lang="en-US" sz="3000" dirty="0"/>
          </a:p>
        </p:txBody>
      </p:sp>
      <p:sp>
        <p:nvSpPr>
          <p:cNvPr id="20" name="Text 18"/>
          <p:cNvSpPr txBox="1"/>
          <p:nvPr/>
        </p:nvSpPr>
        <p:spPr>
          <a:xfrm>
            <a:off x="6035040" y="2148840"/>
            <a:ext cx="2468880" cy="731520"/>
          </a:xfrm>
          <a:prstGeom prst="rect">
            <a:avLst/>
          </a:prstGeom>
          <a:noFill/>
          <a:ln/>
        </p:spPr>
        <p:txBody>
          <a:bodyPr wrap="square" lIns="0" tIns="0" rIns="0" bIns="0" rtlCol="0" anchor="t"/>
          <a:lstStyle/>
          <a:p>
            <a:pPr indent="0" marL="0">
              <a:buNone/>
            </a:pPr>
            <a:r>
              <a:rPr lang="en-US" sz="1300" dirty="0">
                <a:solidFill>
                  <a:srgbClr val="FFFFFF"/>
                </a:solidFill>
              </a:rPr>
              <a:t>último día de validez de los certificados ISO 9001:2015</a:t>
            </a:r>
            <a:endParaRPr lang="en-US" sz="1300" dirty="0"/>
          </a:p>
        </p:txBody>
      </p:sp>
      <p:sp>
        <p:nvSpPr>
          <p:cNvPr id="21" name="Text 19"/>
          <p:cNvSpPr txBox="1"/>
          <p:nvPr/>
        </p:nvSpPr>
        <p:spPr>
          <a:xfrm>
            <a:off x="6035040" y="3017520"/>
            <a:ext cx="2468880" cy="914400"/>
          </a:xfrm>
          <a:prstGeom prst="rect">
            <a:avLst/>
          </a:prstGeom>
          <a:noFill/>
          <a:ln/>
        </p:spPr>
        <p:txBody>
          <a:bodyPr wrap="square" lIns="0" tIns="0" rIns="0" bIns="0" rtlCol="0" anchor="t"/>
          <a:lstStyle/>
          <a:p>
            <a:pPr indent="0" marL="0">
              <a:buNone/>
            </a:pPr>
            <a:r>
              <a:rPr lang="en-US" sz="1100" dirty="0">
                <a:solidFill>
                  <a:srgbClr val="CFE3D3"/>
                </a:solidFill>
              </a:rPr>
              <a:t>Publicada el 16 de septiembre de 2026, con tres años de transición (LRQA, 2026).</a:t>
            </a:r>
            <a:endParaRPr lang="en-US" sz="11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Ningún cambio llega a main sin pasar por seis pasos</a:t>
            </a:r>
            <a:endParaRPr lang="en-US" sz="2400" dirty="0"/>
          </a:p>
        </p:txBody>
      </p:sp>
      <p:sp>
        <p:nvSpPr>
          <p:cNvPr id="3" name="Shape 1"/>
          <p:cNvSpPr/>
          <p:nvPr/>
        </p:nvSpPr>
        <p:spPr>
          <a:xfrm>
            <a:off x="731520" y="1325880"/>
            <a:ext cx="777240" cy="777240"/>
          </a:xfrm>
          <a:prstGeom prst="ellipse">
            <a:avLst/>
          </a:prstGeom>
          <a:solidFill>
            <a:srgbClr val="1F4D3A"/>
          </a:solidFill>
          <a:ln w="12700">
            <a:solidFill>
              <a:srgbClr val="1F4D3A"/>
            </a:solidFill>
            <a:prstDash val="solid"/>
          </a:ln>
        </p:spPr>
      </p:sp>
      <p:sp>
        <p:nvSpPr>
          <p:cNvPr id="4" name="Text 2"/>
          <p:cNvSpPr txBox="1"/>
          <p:nvPr/>
        </p:nvSpPr>
        <p:spPr>
          <a:xfrm>
            <a:off x="731520" y="13258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Text 3"/>
          <p:cNvSpPr txBox="1"/>
          <p:nvPr/>
        </p:nvSpPr>
        <p:spPr>
          <a:xfrm>
            <a:off x="457200" y="2194560"/>
            <a:ext cx="1325880" cy="365760"/>
          </a:xfrm>
          <a:prstGeom prst="rect">
            <a:avLst/>
          </a:prstGeom>
          <a:noFill/>
          <a:ln/>
        </p:spPr>
        <p:txBody>
          <a:bodyPr wrap="square" lIns="0" tIns="0" rIns="0" bIns="0" rtlCol="0" anchor="t"/>
          <a:lstStyle/>
          <a:p>
            <a:pPr algn="ctr" indent="0" marL="0">
              <a:buNone/>
            </a:pPr>
            <a:r>
              <a:rPr lang="en-US" sz="1400" b="1" dirty="0">
                <a:solidFill>
                  <a:srgbClr val="1F4D3A"/>
                </a:solidFill>
              </a:rPr>
              <a:t>Issue</a:t>
            </a:r>
            <a:endParaRPr lang="en-US" sz="1400" dirty="0"/>
          </a:p>
        </p:txBody>
      </p:sp>
      <p:sp>
        <p:nvSpPr>
          <p:cNvPr id="6" name="Shape 4"/>
          <p:cNvSpPr/>
          <p:nvPr/>
        </p:nvSpPr>
        <p:spPr>
          <a:xfrm rot="5400000">
            <a:off x="1618488" y="1600200"/>
            <a:ext cx="164592" cy="228600"/>
          </a:xfrm>
          <a:prstGeom prst="rtTriangle">
            <a:avLst/>
          </a:prstGeom>
          <a:solidFill>
            <a:srgbClr val="7FB069"/>
          </a:solidFill>
          <a:ln w="12700">
            <a:solidFill>
              <a:srgbClr val="7FB069"/>
            </a:solidFill>
            <a:prstDash val="solid"/>
          </a:ln>
        </p:spPr>
      </p:sp>
      <p:sp>
        <p:nvSpPr>
          <p:cNvPr id="7" name="Shape 5"/>
          <p:cNvSpPr/>
          <p:nvPr/>
        </p:nvSpPr>
        <p:spPr>
          <a:xfrm>
            <a:off x="2148840" y="1325880"/>
            <a:ext cx="777240" cy="777240"/>
          </a:xfrm>
          <a:prstGeom prst="ellipse">
            <a:avLst/>
          </a:prstGeom>
          <a:solidFill>
            <a:srgbClr val="1F4D3A"/>
          </a:solidFill>
          <a:ln w="12700">
            <a:solidFill>
              <a:srgbClr val="1F4D3A"/>
            </a:solidFill>
            <a:prstDash val="solid"/>
          </a:ln>
        </p:spPr>
      </p:sp>
      <p:sp>
        <p:nvSpPr>
          <p:cNvPr id="8" name="Text 6"/>
          <p:cNvSpPr txBox="1"/>
          <p:nvPr/>
        </p:nvSpPr>
        <p:spPr>
          <a:xfrm>
            <a:off x="2148840" y="13258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Text 7"/>
          <p:cNvSpPr txBox="1"/>
          <p:nvPr/>
        </p:nvSpPr>
        <p:spPr>
          <a:xfrm>
            <a:off x="1874520" y="2194560"/>
            <a:ext cx="1325880" cy="365760"/>
          </a:xfrm>
          <a:prstGeom prst="rect">
            <a:avLst/>
          </a:prstGeom>
          <a:noFill/>
          <a:ln/>
        </p:spPr>
        <p:txBody>
          <a:bodyPr wrap="square" lIns="0" tIns="0" rIns="0" bIns="0" rtlCol="0" anchor="t"/>
          <a:lstStyle/>
          <a:p>
            <a:pPr algn="ctr" indent="0" marL="0">
              <a:buNone/>
            </a:pPr>
            <a:r>
              <a:rPr lang="en-US" sz="1400" b="1" dirty="0">
                <a:solidFill>
                  <a:srgbClr val="1F4D3A"/>
                </a:solidFill>
              </a:rPr>
              <a:t>Rama</a:t>
            </a:r>
            <a:endParaRPr lang="en-US" sz="1400" dirty="0"/>
          </a:p>
        </p:txBody>
      </p:sp>
      <p:sp>
        <p:nvSpPr>
          <p:cNvPr id="10" name="Shape 8"/>
          <p:cNvSpPr/>
          <p:nvPr/>
        </p:nvSpPr>
        <p:spPr>
          <a:xfrm rot="5400000">
            <a:off x="3035808" y="1600200"/>
            <a:ext cx="164592" cy="228600"/>
          </a:xfrm>
          <a:prstGeom prst="rtTriangle">
            <a:avLst/>
          </a:prstGeom>
          <a:solidFill>
            <a:srgbClr val="7FB069"/>
          </a:solidFill>
          <a:ln w="12700">
            <a:solidFill>
              <a:srgbClr val="7FB069"/>
            </a:solidFill>
            <a:prstDash val="solid"/>
          </a:ln>
        </p:spPr>
      </p:sp>
      <p:sp>
        <p:nvSpPr>
          <p:cNvPr id="11" name="Shape 9"/>
          <p:cNvSpPr/>
          <p:nvPr/>
        </p:nvSpPr>
        <p:spPr>
          <a:xfrm>
            <a:off x="3566160" y="1325880"/>
            <a:ext cx="777240" cy="777240"/>
          </a:xfrm>
          <a:prstGeom prst="ellipse">
            <a:avLst/>
          </a:prstGeom>
          <a:solidFill>
            <a:srgbClr val="1F4D3A"/>
          </a:solidFill>
          <a:ln w="12700">
            <a:solidFill>
              <a:srgbClr val="1F4D3A"/>
            </a:solidFill>
            <a:prstDash val="solid"/>
          </a:ln>
        </p:spPr>
      </p:sp>
      <p:sp>
        <p:nvSpPr>
          <p:cNvPr id="12" name="Text 10"/>
          <p:cNvSpPr txBox="1"/>
          <p:nvPr/>
        </p:nvSpPr>
        <p:spPr>
          <a:xfrm>
            <a:off x="3566160" y="13258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Text 11"/>
          <p:cNvSpPr txBox="1"/>
          <p:nvPr/>
        </p:nvSpPr>
        <p:spPr>
          <a:xfrm>
            <a:off x="3291840" y="2194560"/>
            <a:ext cx="1325880" cy="365760"/>
          </a:xfrm>
          <a:prstGeom prst="rect">
            <a:avLst/>
          </a:prstGeom>
          <a:noFill/>
          <a:ln/>
        </p:spPr>
        <p:txBody>
          <a:bodyPr wrap="square" lIns="0" tIns="0" rIns="0" bIns="0" rtlCol="0" anchor="t"/>
          <a:lstStyle/>
          <a:p>
            <a:pPr algn="ctr" indent="0" marL="0">
              <a:buNone/>
            </a:pPr>
            <a:r>
              <a:rPr lang="en-US" sz="1400" b="1" dirty="0">
                <a:solidFill>
                  <a:srgbClr val="1F4D3A"/>
                </a:solidFill>
              </a:rPr>
              <a:t>Commits</a:t>
            </a:r>
            <a:endParaRPr lang="en-US" sz="1400" dirty="0"/>
          </a:p>
        </p:txBody>
      </p:sp>
      <p:sp>
        <p:nvSpPr>
          <p:cNvPr id="14" name="Shape 12"/>
          <p:cNvSpPr/>
          <p:nvPr/>
        </p:nvSpPr>
        <p:spPr>
          <a:xfrm rot="5400000">
            <a:off x="4453128" y="1600200"/>
            <a:ext cx="164592" cy="228600"/>
          </a:xfrm>
          <a:prstGeom prst="rtTriangle">
            <a:avLst/>
          </a:prstGeom>
          <a:solidFill>
            <a:srgbClr val="7FB069"/>
          </a:solidFill>
          <a:ln w="12700">
            <a:solidFill>
              <a:srgbClr val="7FB069"/>
            </a:solidFill>
            <a:prstDash val="solid"/>
          </a:ln>
        </p:spPr>
      </p:sp>
      <p:sp>
        <p:nvSpPr>
          <p:cNvPr id="15" name="Shape 13"/>
          <p:cNvSpPr/>
          <p:nvPr/>
        </p:nvSpPr>
        <p:spPr>
          <a:xfrm>
            <a:off x="4983480" y="1325880"/>
            <a:ext cx="777240" cy="777240"/>
          </a:xfrm>
          <a:prstGeom prst="ellipse">
            <a:avLst/>
          </a:prstGeom>
          <a:solidFill>
            <a:srgbClr val="1F4D3A"/>
          </a:solidFill>
          <a:ln w="12700">
            <a:solidFill>
              <a:srgbClr val="1F4D3A"/>
            </a:solidFill>
            <a:prstDash val="solid"/>
          </a:ln>
        </p:spPr>
      </p:sp>
      <p:sp>
        <p:nvSpPr>
          <p:cNvPr id="16" name="Text 14"/>
          <p:cNvSpPr txBox="1"/>
          <p:nvPr/>
        </p:nvSpPr>
        <p:spPr>
          <a:xfrm>
            <a:off x="4983480" y="13258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Text 15"/>
          <p:cNvSpPr txBox="1"/>
          <p:nvPr/>
        </p:nvSpPr>
        <p:spPr>
          <a:xfrm>
            <a:off x="4709160" y="2194560"/>
            <a:ext cx="1325880" cy="365760"/>
          </a:xfrm>
          <a:prstGeom prst="rect">
            <a:avLst/>
          </a:prstGeom>
          <a:noFill/>
          <a:ln/>
        </p:spPr>
        <p:txBody>
          <a:bodyPr wrap="square" lIns="0" tIns="0" rIns="0" bIns="0" rtlCol="0" anchor="t"/>
          <a:lstStyle/>
          <a:p>
            <a:pPr algn="ctr" indent="0" marL="0">
              <a:buNone/>
            </a:pPr>
            <a:r>
              <a:rPr lang="en-US" sz="1400" b="1" dirty="0">
                <a:solidFill>
                  <a:srgbClr val="1F4D3A"/>
                </a:solidFill>
              </a:rPr>
              <a:t>Pull request</a:t>
            </a:r>
            <a:endParaRPr lang="en-US" sz="1400" dirty="0"/>
          </a:p>
        </p:txBody>
      </p:sp>
      <p:sp>
        <p:nvSpPr>
          <p:cNvPr id="18" name="Shape 16"/>
          <p:cNvSpPr/>
          <p:nvPr/>
        </p:nvSpPr>
        <p:spPr>
          <a:xfrm rot="5400000">
            <a:off x="5870448" y="1600200"/>
            <a:ext cx="164592" cy="228600"/>
          </a:xfrm>
          <a:prstGeom prst="rtTriangle">
            <a:avLst/>
          </a:prstGeom>
          <a:solidFill>
            <a:srgbClr val="7FB069"/>
          </a:solidFill>
          <a:ln w="12700">
            <a:solidFill>
              <a:srgbClr val="7FB069"/>
            </a:solidFill>
            <a:prstDash val="solid"/>
          </a:ln>
        </p:spPr>
      </p:sp>
      <p:sp>
        <p:nvSpPr>
          <p:cNvPr id="19" name="Shape 17"/>
          <p:cNvSpPr/>
          <p:nvPr/>
        </p:nvSpPr>
        <p:spPr>
          <a:xfrm>
            <a:off x="6400800" y="1325880"/>
            <a:ext cx="777240" cy="777240"/>
          </a:xfrm>
          <a:prstGeom prst="ellipse">
            <a:avLst/>
          </a:prstGeom>
          <a:solidFill>
            <a:srgbClr val="E9A23B"/>
          </a:solidFill>
          <a:ln w="12700">
            <a:solidFill>
              <a:srgbClr val="E9A23B"/>
            </a:solidFill>
            <a:prstDash val="solid"/>
          </a:ln>
        </p:spPr>
      </p:sp>
      <p:sp>
        <p:nvSpPr>
          <p:cNvPr id="20" name="Text 18"/>
          <p:cNvSpPr txBox="1"/>
          <p:nvPr/>
        </p:nvSpPr>
        <p:spPr>
          <a:xfrm>
            <a:off x="6400800" y="1325880"/>
            <a:ext cx="777240" cy="777240"/>
          </a:xfrm>
          <a:prstGeom prst="rect">
            <a:avLst/>
          </a:prstGeom>
          <a:noFill/>
          <a:ln/>
        </p:spPr>
        <p:txBody>
          <a:bodyPr wrap="square" lIns="0" tIns="0" rIns="0" bIns="0" rtlCol="0" anchor="ctr"/>
          <a:lstStyle/>
          <a:p>
            <a:pPr algn="ctr" indent="0" marL="0">
              <a:buNone/>
            </a:pPr>
            <a:r>
              <a:rPr lang="en-US" sz="1800" b="1" dirty="0">
                <a:solidFill>
                  <a:srgbClr val="1F4D3A"/>
                </a:solidFill>
              </a:rPr>
              <a:t>5</a:t>
            </a:r>
            <a:endParaRPr lang="en-US" sz="1800" dirty="0"/>
          </a:p>
        </p:txBody>
      </p:sp>
      <p:sp>
        <p:nvSpPr>
          <p:cNvPr id="21" name="Text 19"/>
          <p:cNvSpPr txBox="1"/>
          <p:nvPr/>
        </p:nvSpPr>
        <p:spPr>
          <a:xfrm>
            <a:off x="6126480" y="2194560"/>
            <a:ext cx="1325880" cy="365760"/>
          </a:xfrm>
          <a:prstGeom prst="rect">
            <a:avLst/>
          </a:prstGeom>
          <a:noFill/>
          <a:ln/>
        </p:spPr>
        <p:txBody>
          <a:bodyPr wrap="square" lIns="0" tIns="0" rIns="0" bIns="0" rtlCol="0" anchor="t"/>
          <a:lstStyle/>
          <a:p>
            <a:pPr algn="ctr" indent="0" marL="0">
              <a:buNone/>
            </a:pPr>
            <a:r>
              <a:rPr lang="en-US" sz="1400" b="1" dirty="0">
                <a:solidFill>
                  <a:srgbClr val="1F4D3A"/>
                </a:solidFill>
              </a:rPr>
              <a:t>CI + revisión</a:t>
            </a:r>
            <a:endParaRPr lang="en-US" sz="1400" dirty="0"/>
          </a:p>
        </p:txBody>
      </p:sp>
      <p:sp>
        <p:nvSpPr>
          <p:cNvPr id="22" name="Shape 20"/>
          <p:cNvSpPr/>
          <p:nvPr/>
        </p:nvSpPr>
        <p:spPr>
          <a:xfrm rot="5400000">
            <a:off x="7287768" y="1600200"/>
            <a:ext cx="164592" cy="228600"/>
          </a:xfrm>
          <a:prstGeom prst="rtTriangle">
            <a:avLst/>
          </a:prstGeom>
          <a:solidFill>
            <a:srgbClr val="7FB069"/>
          </a:solidFill>
          <a:ln w="12700">
            <a:solidFill>
              <a:srgbClr val="7FB069"/>
            </a:solidFill>
            <a:prstDash val="solid"/>
          </a:ln>
        </p:spPr>
      </p:sp>
      <p:sp>
        <p:nvSpPr>
          <p:cNvPr id="23" name="Shape 21"/>
          <p:cNvSpPr/>
          <p:nvPr/>
        </p:nvSpPr>
        <p:spPr>
          <a:xfrm>
            <a:off x="7818120" y="1325880"/>
            <a:ext cx="777240" cy="777240"/>
          </a:xfrm>
          <a:prstGeom prst="ellipse">
            <a:avLst/>
          </a:prstGeom>
          <a:solidFill>
            <a:srgbClr val="1F4D3A"/>
          </a:solidFill>
          <a:ln w="12700">
            <a:solidFill>
              <a:srgbClr val="1F4D3A"/>
            </a:solidFill>
            <a:prstDash val="solid"/>
          </a:ln>
        </p:spPr>
      </p:sp>
      <p:sp>
        <p:nvSpPr>
          <p:cNvPr id="24" name="Text 22"/>
          <p:cNvSpPr txBox="1"/>
          <p:nvPr/>
        </p:nvSpPr>
        <p:spPr>
          <a:xfrm>
            <a:off x="7818120" y="13258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5" name="Text 23"/>
          <p:cNvSpPr txBox="1"/>
          <p:nvPr/>
        </p:nvSpPr>
        <p:spPr>
          <a:xfrm>
            <a:off x="7543800" y="2194560"/>
            <a:ext cx="1325880" cy="365760"/>
          </a:xfrm>
          <a:prstGeom prst="rect">
            <a:avLst/>
          </a:prstGeom>
          <a:noFill/>
          <a:ln/>
        </p:spPr>
        <p:txBody>
          <a:bodyPr wrap="square" lIns="0" tIns="0" rIns="0" bIns="0" rtlCol="0" anchor="t"/>
          <a:lstStyle/>
          <a:p>
            <a:pPr algn="ctr" indent="0" marL="0">
              <a:buNone/>
            </a:pPr>
            <a:r>
              <a:rPr lang="en-US" sz="1400" b="1" dirty="0">
                <a:solidFill>
                  <a:srgbClr val="1F4D3A"/>
                </a:solidFill>
              </a:rPr>
              <a:t>Merge</a:t>
            </a:r>
            <a:endParaRPr lang="en-US" sz="1400" dirty="0"/>
          </a:p>
        </p:txBody>
      </p:sp>
      <p:sp>
        <p:nvSpPr>
          <p:cNvPr id="26" name="Shape 24"/>
          <p:cNvSpPr/>
          <p:nvPr/>
        </p:nvSpPr>
        <p:spPr>
          <a:xfrm>
            <a:off x="457200" y="2880360"/>
            <a:ext cx="2606040" cy="1600200"/>
          </a:xfrm>
          <a:prstGeom prst="roundRect">
            <a:avLst>
              <a:gd name="adj" fmla="val 4571"/>
            </a:avLst>
          </a:prstGeom>
          <a:solidFill>
            <a:srgbClr val="EAF3E4"/>
          </a:solidFill>
          <a:ln w="12700">
            <a:solidFill>
              <a:srgbClr val="EAF3E4"/>
            </a:solidFill>
            <a:prstDash val="solid"/>
          </a:ln>
        </p:spPr>
      </p:sp>
      <p:sp>
        <p:nvSpPr>
          <p:cNvPr id="27" name="Text 25"/>
          <p:cNvSpPr txBox="1"/>
          <p:nvPr/>
        </p:nvSpPr>
        <p:spPr>
          <a:xfrm>
            <a:off x="685800" y="2971800"/>
            <a:ext cx="2194560" cy="822960"/>
          </a:xfrm>
          <a:prstGeom prst="rect">
            <a:avLst/>
          </a:prstGeom>
          <a:noFill/>
          <a:ln/>
        </p:spPr>
        <p:txBody>
          <a:bodyPr wrap="square" lIns="0" tIns="0" rIns="0" bIns="0" rtlCol="0" anchor="t"/>
          <a:lstStyle/>
          <a:p>
            <a:pPr indent="0" marL="0">
              <a:buNone/>
            </a:pPr>
            <a:r>
              <a:rPr lang="en-US" sz="4400" b="1" dirty="0">
                <a:solidFill>
                  <a:srgbClr val="2E7D57"/>
                </a:solidFill>
                <a:latin typeface="Cambria" pitchFamily="34" charset="0"/>
                <a:ea typeface="Cambria" pitchFamily="34" charset="-122"/>
                <a:cs typeface="Cambria" pitchFamily="34" charset="-120"/>
              </a:rPr>
              <a:t>7</a:t>
            </a:r>
            <a:endParaRPr lang="en-US" sz="4400" dirty="0"/>
          </a:p>
        </p:txBody>
      </p:sp>
      <p:sp>
        <p:nvSpPr>
          <p:cNvPr id="28" name="Text 26"/>
          <p:cNvSpPr txBox="1"/>
          <p:nvPr/>
        </p:nvSpPr>
        <p:spPr>
          <a:xfrm>
            <a:off x="685800" y="3794760"/>
            <a:ext cx="2194560" cy="548640"/>
          </a:xfrm>
          <a:prstGeom prst="rect">
            <a:avLst/>
          </a:prstGeom>
          <a:noFill/>
          <a:ln/>
        </p:spPr>
        <p:txBody>
          <a:bodyPr wrap="square" lIns="0" tIns="0" rIns="0" bIns="0" rtlCol="0" anchor="t"/>
          <a:lstStyle/>
          <a:p>
            <a:pPr indent="0" marL="0">
              <a:buNone/>
            </a:pPr>
            <a:r>
              <a:rPr lang="en-US" sz="1300" dirty="0">
                <a:solidFill>
                  <a:srgbClr val="1E2A24"/>
                </a:solidFill>
              </a:rPr>
              <a:t>pull requests revisados y fusionados</a:t>
            </a:r>
            <a:endParaRPr lang="en-US" sz="1300" dirty="0"/>
          </a:p>
        </p:txBody>
      </p:sp>
      <p:sp>
        <p:nvSpPr>
          <p:cNvPr id="29" name="Shape 27"/>
          <p:cNvSpPr/>
          <p:nvPr/>
        </p:nvSpPr>
        <p:spPr>
          <a:xfrm>
            <a:off x="3246120" y="2880360"/>
            <a:ext cx="2606040" cy="1600200"/>
          </a:xfrm>
          <a:prstGeom prst="roundRect">
            <a:avLst>
              <a:gd name="adj" fmla="val 4571"/>
            </a:avLst>
          </a:prstGeom>
          <a:solidFill>
            <a:srgbClr val="EAF3E4"/>
          </a:solidFill>
          <a:ln w="12700">
            <a:solidFill>
              <a:srgbClr val="EAF3E4"/>
            </a:solidFill>
            <a:prstDash val="solid"/>
          </a:ln>
        </p:spPr>
      </p:sp>
      <p:sp>
        <p:nvSpPr>
          <p:cNvPr id="30" name="Text 28"/>
          <p:cNvSpPr txBox="1"/>
          <p:nvPr/>
        </p:nvSpPr>
        <p:spPr>
          <a:xfrm>
            <a:off x="3474720" y="2971800"/>
            <a:ext cx="2194560" cy="822960"/>
          </a:xfrm>
          <a:prstGeom prst="rect">
            <a:avLst/>
          </a:prstGeom>
          <a:noFill/>
          <a:ln/>
        </p:spPr>
        <p:txBody>
          <a:bodyPr wrap="square" lIns="0" tIns="0" rIns="0" bIns="0" rtlCol="0" anchor="t"/>
          <a:lstStyle/>
          <a:p>
            <a:pPr indent="0" marL="0">
              <a:buNone/>
            </a:pPr>
            <a:r>
              <a:rPr lang="en-US" sz="4400" b="1" dirty="0">
                <a:solidFill>
                  <a:srgbClr val="2E7D57"/>
                </a:solidFill>
                <a:latin typeface="Cambria" pitchFamily="34" charset="0"/>
                <a:ea typeface="Cambria" pitchFamily="34" charset="-122"/>
                <a:cs typeface="Cambria" pitchFamily="34" charset="-120"/>
              </a:rPr>
              <a:t>5</a:t>
            </a:r>
            <a:endParaRPr lang="en-US" sz="4400" dirty="0"/>
          </a:p>
        </p:txBody>
      </p:sp>
      <p:sp>
        <p:nvSpPr>
          <p:cNvPr id="31" name="Text 29"/>
          <p:cNvSpPr txBox="1"/>
          <p:nvPr/>
        </p:nvSpPr>
        <p:spPr>
          <a:xfrm>
            <a:off x="3474720" y="3794760"/>
            <a:ext cx="2194560" cy="548640"/>
          </a:xfrm>
          <a:prstGeom prst="rect">
            <a:avLst/>
          </a:prstGeom>
          <a:noFill/>
          <a:ln/>
        </p:spPr>
        <p:txBody>
          <a:bodyPr wrap="square" lIns="0" tIns="0" rIns="0" bIns="0" rtlCol="0" anchor="t"/>
          <a:lstStyle/>
          <a:p>
            <a:pPr indent="0" marL="0">
              <a:buNone/>
            </a:pPr>
            <a:r>
              <a:rPr lang="en-US" sz="1300" dirty="0">
                <a:solidFill>
                  <a:srgbClr val="1E2A24"/>
                </a:solidFill>
              </a:rPr>
              <a:t>issues de defectos cerrados por commit</a:t>
            </a:r>
            <a:endParaRPr lang="en-US" sz="1300" dirty="0"/>
          </a:p>
        </p:txBody>
      </p:sp>
      <p:sp>
        <p:nvSpPr>
          <p:cNvPr id="32" name="Shape 30"/>
          <p:cNvSpPr/>
          <p:nvPr/>
        </p:nvSpPr>
        <p:spPr>
          <a:xfrm>
            <a:off x="6035040" y="2880360"/>
            <a:ext cx="2606040" cy="1600200"/>
          </a:xfrm>
          <a:prstGeom prst="roundRect">
            <a:avLst>
              <a:gd name="adj" fmla="val 4571"/>
            </a:avLst>
          </a:prstGeom>
          <a:solidFill>
            <a:srgbClr val="EAF3E4"/>
          </a:solidFill>
          <a:ln w="12700">
            <a:solidFill>
              <a:srgbClr val="EAF3E4"/>
            </a:solidFill>
            <a:prstDash val="solid"/>
          </a:ln>
        </p:spPr>
      </p:sp>
      <p:sp>
        <p:nvSpPr>
          <p:cNvPr id="33" name="Text 31"/>
          <p:cNvSpPr txBox="1"/>
          <p:nvPr/>
        </p:nvSpPr>
        <p:spPr>
          <a:xfrm>
            <a:off x="6263640" y="2971800"/>
            <a:ext cx="2194560" cy="822960"/>
          </a:xfrm>
          <a:prstGeom prst="rect">
            <a:avLst/>
          </a:prstGeom>
          <a:noFill/>
          <a:ln/>
        </p:spPr>
        <p:txBody>
          <a:bodyPr wrap="square" lIns="0" tIns="0" rIns="0" bIns="0" rtlCol="0" anchor="t"/>
          <a:lstStyle/>
          <a:p>
            <a:pPr indent="0" marL="0">
              <a:buNone/>
            </a:pPr>
            <a:r>
              <a:rPr lang="en-US" sz="4400" b="1" dirty="0">
                <a:solidFill>
                  <a:srgbClr val="2E7D57"/>
                </a:solidFill>
                <a:latin typeface="Cambria" pitchFamily="34" charset="0"/>
                <a:ea typeface="Cambria" pitchFamily="34" charset="-122"/>
                <a:cs typeface="Cambria" pitchFamily="34" charset="-120"/>
              </a:rPr>
              <a:t>1</a:t>
            </a:r>
            <a:endParaRPr lang="en-US" sz="4400" dirty="0"/>
          </a:p>
        </p:txBody>
      </p:sp>
      <p:sp>
        <p:nvSpPr>
          <p:cNvPr id="34" name="Text 32"/>
          <p:cNvSpPr txBox="1"/>
          <p:nvPr/>
        </p:nvSpPr>
        <p:spPr>
          <a:xfrm>
            <a:off x="6263640" y="3794760"/>
            <a:ext cx="2194560" cy="548640"/>
          </a:xfrm>
          <a:prstGeom prst="rect">
            <a:avLst/>
          </a:prstGeom>
          <a:noFill/>
          <a:ln/>
        </p:spPr>
        <p:txBody>
          <a:bodyPr wrap="square" lIns="0" tIns="0" rIns="0" bIns="0" rtlCol="0" anchor="t"/>
          <a:lstStyle/>
          <a:p>
            <a:pPr indent="0" marL="0">
              <a:buNone/>
            </a:pPr>
            <a:r>
              <a:rPr lang="en-US" sz="1300" dirty="0">
                <a:solidFill>
                  <a:srgbClr val="1E2A24"/>
                </a:solidFill>
              </a:rPr>
              <a:t>conflicto de merge resuelto a mano</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El ciclo PHVA, con datos reales del proyecto</a:t>
            </a:r>
            <a:endParaRPr lang="en-US" sz="2400" dirty="0"/>
          </a:p>
        </p:txBody>
      </p:sp>
      <p:sp>
        <p:nvSpPr>
          <p:cNvPr id="3" name="Shape 1"/>
          <p:cNvSpPr/>
          <p:nvPr/>
        </p:nvSpPr>
        <p:spPr>
          <a:xfrm>
            <a:off x="457200" y="1188720"/>
            <a:ext cx="4023360" cy="1508760"/>
          </a:xfrm>
          <a:prstGeom prst="roundRect">
            <a:avLst>
              <a:gd name="adj" fmla="val 4848"/>
            </a:avLst>
          </a:prstGeom>
          <a:solidFill>
            <a:srgbClr val="EAF3E4"/>
          </a:solidFill>
          <a:ln w="12700">
            <a:solidFill>
              <a:srgbClr val="EAF3E4"/>
            </a:solidFill>
            <a:prstDash val="solid"/>
          </a:ln>
        </p:spPr>
      </p:sp>
      <p:sp>
        <p:nvSpPr>
          <p:cNvPr id="4" name="Shape 2"/>
          <p:cNvSpPr/>
          <p:nvPr/>
        </p:nvSpPr>
        <p:spPr>
          <a:xfrm>
            <a:off x="685800" y="1554480"/>
            <a:ext cx="777240" cy="777240"/>
          </a:xfrm>
          <a:prstGeom prst="ellipse">
            <a:avLst/>
          </a:prstGeom>
          <a:solidFill>
            <a:srgbClr val="1F4D3A"/>
          </a:solidFill>
          <a:ln w="12700">
            <a:solidFill>
              <a:srgbClr val="1F4D3A"/>
            </a:solidFill>
            <a:prstDash val="solid"/>
          </a:ln>
        </p:spPr>
      </p:sp>
      <p:sp>
        <p:nvSpPr>
          <p:cNvPr id="5" name="Text 3"/>
          <p:cNvSpPr txBox="1"/>
          <p:nvPr/>
        </p:nvSpPr>
        <p:spPr>
          <a:xfrm>
            <a:off x="685800" y="15544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rPr>
              <a:t>P</a:t>
            </a:r>
            <a:endParaRPr lang="en-US" sz="2400" dirty="0"/>
          </a:p>
        </p:txBody>
      </p:sp>
      <p:sp>
        <p:nvSpPr>
          <p:cNvPr id="6" name="Text 4"/>
          <p:cNvSpPr txBox="1"/>
          <p:nvPr/>
        </p:nvSpPr>
        <p:spPr>
          <a:xfrm>
            <a:off x="1645920" y="1417320"/>
            <a:ext cx="2651760" cy="365760"/>
          </a:xfrm>
          <a:prstGeom prst="rect">
            <a:avLst/>
          </a:prstGeom>
          <a:noFill/>
          <a:ln/>
        </p:spPr>
        <p:txBody>
          <a:bodyPr wrap="square" lIns="0" tIns="0" rIns="0" bIns="0" rtlCol="0" anchor="t"/>
          <a:lstStyle/>
          <a:p>
            <a:pPr indent="0" marL="0">
              <a:buNone/>
            </a:pPr>
            <a:r>
              <a:rPr lang="en-US" sz="1700" b="1" dirty="0">
                <a:solidFill>
                  <a:srgbClr val="1F4D3A"/>
                </a:solidFill>
              </a:rPr>
              <a:t>Planificar</a:t>
            </a:r>
            <a:endParaRPr lang="en-US" sz="1700" dirty="0"/>
          </a:p>
        </p:txBody>
      </p:sp>
      <p:sp>
        <p:nvSpPr>
          <p:cNvPr id="7" name="Text 5"/>
          <p:cNvSpPr txBox="1"/>
          <p:nvPr/>
        </p:nvSpPr>
        <p:spPr>
          <a:xfrm>
            <a:off x="1645920" y="1828800"/>
            <a:ext cx="2651760" cy="777240"/>
          </a:xfrm>
          <a:prstGeom prst="rect">
            <a:avLst/>
          </a:prstGeom>
          <a:noFill/>
          <a:ln/>
        </p:spPr>
        <p:txBody>
          <a:bodyPr wrap="square" lIns="0" tIns="0" rIns="0" bIns="0" rtlCol="0" anchor="t"/>
          <a:lstStyle/>
          <a:p>
            <a:pPr indent="0" marL="0">
              <a:buNone/>
            </a:pPr>
            <a:r>
              <a:rPr lang="en-US" sz="1300" dirty="0">
                <a:solidFill>
                  <a:srgbClr val="1E2A24"/>
                </a:solidFill>
              </a:rPr>
              <a:t>Plan PP-ECO-001: 19 escenarios priorizados por riesgo (Guía 6)</a:t>
            </a:r>
            <a:endParaRPr lang="en-US" sz="1300" dirty="0"/>
          </a:p>
        </p:txBody>
      </p:sp>
      <p:sp>
        <p:nvSpPr>
          <p:cNvPr id="8" name="Shape 6"/>
          <p:cNvSpPr/>
          <p:nvPr/>
        </p:nvSpPr>
        <p:spPr>
          <a:xfrm>
            <a:off x="4663440" y="1188720"/>
            <a:ext cx="4023360" cy="1508760"/>
          </a:xfrm>
          <a:prstGeom prst="roundRect">
            <a:avLst>
              <a:gd name="adj" fmla="val 4848"/>
            </a:avLst>
          </a:prstGeom>
          <a:solidFill>
            <a:srgbClr val="EAF3E4"/>
          </a:solidFill>
          <a:ln w="12700">
            <a:solidFill>
              <a:srgbClr val="EAF3E4"/>
            </a:solidFill>
            <a:prstDash val="solid"/>
          </a:ln>
        </p:spPr>
      </p:sp>
      <p:sp>
        <p:nvSpPr>
          <p:cNvPr id="9" name="Shape 7"/>
          <p:cNvSpPr/>
          <p:nvPr/>
        </p:nvSpPr>
        <p:spPr>
          <a:xfrm>
            <a:off x="4892040" y="1554480"/>
            <a:ext cx="777240" cy="777240"/>
          </a:xfrm>
          <a:prstGeom prst="ellipse">
            <a:avLst/>
          </a:prstGeom>
          <a:solidFill>
            <a:srgbClr val="1F4D3A"/>
          </a:solidFill>
          <a:ln w="12700">
            <a:solidFill>
              <a:srgbClr val="1F4D3A"/>
            </a:solidFill>
            <a:prstDash val="solid"/>
          </a:ln>
        </p:spPr>
      </p:sp>
      <p:sp>
        <p:nvSpPr>
          <p:cNvPr id="10" name="Text 8"/>
          <p:cNvSpPr txBox="1"/>
          <p:nvPr/>
        </p:nvSpPr>
        <p:spPr>
          <a:xfrm>
            <a:off x="4892040" y="15544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rPr>
              <a:t>H</a:t>
            </a:r>
            <a:endParaRPr lang="en-US" sz="2400" dirty="0"/>
          </a:p>
        </p:txBody>
      </p:sp>
      <p:sp>
        <p:nvSpPr>
          <p:cNvPr id="11" name="Text 9"/>
          <p:cNvSpPr txBox="1"/>
          <p:nvPr/>
        </p:nvSpPr>
        <p:spPr>
          <a:xfrm>
            <a:off x="5852160" y="1417320"/>
            <a:ext cx="2651760" cy="365760"/>
          </a:xfrm>
          <a:prstGeom prst="rect">
            <a:avLst/>
          </a:prstGeom>
          <a:noFill/>
          <a:ln/>
        </p:spPr>
        <p:txBody>
          <a:bodyPr wrap="square" lIns="0" tIns="0" rIns="0" bIns="0" rtlCol="0" anchor="t"/>
          <a:lstStyle/>
          <a:p>
            <a:pPr indent="0" marL="0">
              <a:buNone/>
            </a:pPr>
            <a:r>
              <a:rPr lang="en-US" sz="1700" b="1" dirty="0">
                <a:solidFill>
                  <a:srgbClr val="1F4D3A"/>
                </a:solidFill>
              </a:rPr>
              <a:t>Hacer</a:t>
            </a:r>
            <a:endParaRPr lang="en-US" sz="1700" dirty="0"/>
          </a:p>
        </p:txBody>
      </p:sp>
      <p:sp>
        <p:nvSpPr>
          <p:cNvPr id="12" name="Text 10"/>
          <p:cNvSpPr txBox="1"/>
          <p:nvPr/>
        </p:nvSpPr>
        <p:spPr>
          <a:xfrm>
            <a:off x="5852160" y="1828800"/>
            <a:ext cx="2651760" cy="777240"/>
          </a:xfrm>
          <a:prstGeom prst="rect">
            <a:avLst/>
          </a:prstGeom>
          <a:noFill/>
          <a:ln/>
        </p:spPr>
        <p:txBody>
          <a:bodyPr wrap="square" lIns="0" tIns="0" rIns="0" bIns="0" rtlCol="0" anchor="t"/>
          <a:lstStyle/>
          <a:p>
            <a:pPr indent="0" marL="0">
              <a:buNone/>
            </a:pPr>
            <a:r>
              <a:rPr lang="en-US" sz="1300" dirty="0">
                <a:solidFill>
                  <a:srgbClr val="1E2A24"/>
                </a:solidFill>
              </a:rPr>
              <a:t>90 pruebas automatizadas con Jest y Supertest sobre una base aislada</a:t>
            </a:r>
            <a:endParaRPr lang="en-US" sz="1300" dirty="0"/>
          </a:p>
        </p:txBody>
      </p:sp>
      <p:sp>
        <p:nvSpPr>
          <p:cNvPr id="13" name="Shape 11"/>
          <p:cNvSpPr/>
          <p:nvPr/>
        </p:nvSpPr>
        <p:spPr>
          <a:xfrm>
            <a:off x="457200" y="2880360"/>
            <a:ext cx="4023360" cy="1508760"/>
          </a:xfrm>
          <a:prstGeom prst="roundRect">
            <a:avLst>
              <a:gd name="adj" fmla="val 4848"/>
            </a:avLst>
          </a:prstGeom>
          <a:solidFill>
            <a:srgbClr val="FBEBD2"/>
          </a:solidFill>
          <a:ln w="12700">
            <a:solidFill>
              <a:srgbClr val="FBEBD2"/>
            </a:solidFill>
            <a:prstDash val="solid"/>
          </a:ln>
        </p:spPr>
      </p:sp>
      <p:sp>
        <p:nvSpPr>
          <p:cNvPr id="14" name="Shape 12"/>
          <p:cNvSpPr/>
          <p:nvPr/>
        </p:nvSpPr>
        <p:spPr>
          <a:xfrm>
            <a:off x="685800" y="3246120"/>
            <a:ext cx="777240" cy="777240"/>
          </a:xfrm>
          <a:prstGeom prst="ellipse">
            <a:avLst/>
          </a:prstGeom>
          <a:solidFill>
            <a:srgbClr val="E9A23B"/>
          </a:solidFill>
          <a:ln w="12700">
            <a:solidFill>
              <a:srgbClr val="E9A23B"/>
            </a:solidFill>
            <a:prstDash val="solid"/>
          </a:ln>
        </p:spPr>
      </p:sp>
      <p:sp>
        <p:nvSpPr>
          <p:cNvPr id="15" name="Text 13"/>
          <p:cNvSpPr txBox="1"/>
          <p:nvPr/>
        </p:nvSpPr>
        <p:spPr>
          <a:xfrm>
            <a:off x="685800" y="3246120"/>
            <a:ext cx="777240" cy="777240"/>
          </a:xfrm>
          <a:prstGeom prst="rect">
            <a:avLst/>
          </a:prstGeom>
          <a:noFill/>
          <a:ln/>
        </p:spPr>
        <p:txBody>
          <a:bodyPr wrap="square" lIns="0" tIns="0" rIns="0" bIns="0" rtlCol="0" anchor="ctr"/>
          <a:lstStyle/>
          <a:p>
            <a:pPr algn="ctr" indent="0" marL="0">
              <a:buNone/>
            </a:pPr>
            <a:r>
              <a:rPr lang="en-US" sz="2400" b="1" dirty="0">
                <a:solidFill>
                  <a:srgbClr val="1F4D3A"/>
                </a:solidFill>
              </a:rPr>
              <a:t>V</a:t>
            </a:r>
            <a:endParaRPr lang="en-US" sz="2400" dirty="0"/>
          </a:p>
        </p:txBody>
      </p:sp>
      <p:sp>
        <p:nvSpPr>
          <p:cNvPr id="16" name="Text 14"/>
          <p:cNvSpPr txBox="1"/>
          <p:nvPr/>
        </p:nvSpPr>
        <p:spPr>
          <a:xfrm>
            <a:off x="1645920" y="3108960"/>
            <a:ext cx="2651760" cy="365760"/>
          </a:xfrm>
          <a:prstGeom prst="rect">
            <a:avLst/>
          </a:prstGeom>
          <a:noFill/>
          <a:ln/>
        </p:spPr>
        <p:txBody>
          <a:bodyPr wrap="square" lIns="0" tIns="0" rIns="0" bIns="0" rtlCol="0" anchor="t"/>
          <a:lstStyle/>
          <a:p>
            <a:pPr indent="0" marL="0">
              <a:buNone/>
            </a:pPr>
            <a:r>
              <a:rPr lang="en-US" sz="1700" b="1" dirty="0">
                <a:solidFill>
                  <a:srgbClr val="1F4D3A"/>
                </a:solidFill>
              </a:rPr>
              <a:t>Verificar</a:t>
            </a:r>
            <a:endParaRPr lang="en-US" sz="1700" dirty="0"/>
          </a:p>
        </p:txBody>
      </p:sp>
      <p:sp>
        <p:nvSpPr>
          <p:cNvPr id="17" name="Text 15"/>
          <p:cNvSpPr txBox="1"/>
          <p:nvPr/>
        </p:nvSpPr>
        <p:spPr>
          <a:xfrm>
            <a:off x="1645920" y="3520440"/>
            <a:ext cx="2651760" cy="777240"/>
          </a:xfrm>
          <a:prstGeom prst="rect">
            <a:avLst/>
          </a:prstGeom>
          <a:noFill/>
          <a:ln/>
        </p:spPr>
        <p:txBody>
          <a:bodyPr wrap="square" lIns="0" tIns="0" rIns="0" bIns="0" rtlCol="0" anchor="t"/>
          <a:lstStyle/>
          <a:p>
            <a:pPr indent="0" marL="0">
              <a:buNone/>
            </a:pPr>
            <a:r>
              <a:rPr lang="en-US" sz="1300" dirty="0">
                <a:solidFill>
                  <a:srgbClr val="1E2A24"/>
                </a:solidFill>
              </a:rPr>
              <a:t>La primera corrida en CI falló 10 casos y reveló 5 defectos</a:t>
            </a:r>
            <a:endParaRPr lang="en-US" sz="1300" dirty="0"/>
          </a:p>
        </p:txBody>
      </p:sp>
      <p:sp>
        <p:nvSpPr>
          <p:cNvPr id="18" name="Shape 16"/>
          <p:cNvSpPr/>
          <p:nvPr/>
        </p:nvSpPr>
        <p:spPr>
          <a:xfrm>
            <a:off x="4663440" y="2880360"/>
            <a:ext cx="4023360" cy="1508760"/>
          </a:xfrm>
          <a:prstGeom prst="roundRect">
            <a:avLst>
              <a:gd name="adj" fmla="val 4848"/>
            </a:avLst>
          </a:prstGeom>
          <a:solidFill>
            <a:srgbClr val="EAF3E4"/>
          </a:solidFill>
          <a:ln w="12700">
            <a:solidFill>
              <a:srgbClr val="EAF3E4"/>
            </a:solidFill>
            <a:prstDash val="solid"/>
          </a:ln>
        </p:spPr>
      </p:sp>
      <p:sp>
        <p:nvSpPr>
          <p:cNvPr id="19" name="Shape 17"/>
          <p:cNvSpPr/>
          <p:nvPr/>
        </p:nvSpPr>
        <p:spPr>
          <a:xfrm>
            <a:off x="4892040" y="3246120"/>
            <a:ext cx="777240" cy="777240"/>
          </a:xfrm>
          <a:prstGeom prst="ellipse">
            <a:avLst/>
          </a:prstGeom>
          <a:solidFill>
            <a:srgbClr val="1F4D3A"/>
          </a:solidFill>
          <a:ln w="12700">
            <a:solidFill>
              <a:srgbClr val="1F4D3A"/>
            </a:solidFill>
            <a:prstDash val="solid"/>
          </a:ln>
        </p:spPr>
      </p:sp>
      <p:sp>
        <p:nvSpPr>
          <p:cNvPr id="20" name="Text 18"/>
          <p:cNvSpPr txBox="1"/>
          <p:nvPr/>
        </p:nvSpPr>
        <p:spPr>
          <a:xfrm>
            <a:off x="4892040" y="324612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rPr>
              <a:t>A</a:t>
            </a:r>
            <a:endParaRPr lang="en-US" sz="2400" dirty="0"/>
          </a:p>
        </p:txBody>
      </p:sp>
      <p:sp>
        <p:nvSpPr>
          <p:cNvPr id="21" name="Text 19"/>
          <p:cNvSpPr txBox="1"/>
          <p:nvPr/>
        </p:nvSpPr>
        <p:spPr>
          <a:xfrm>
            <a:off x="5852160" y="3108960"/>
            <a:ext cx="2651760" cy="365760"/>
          </a:xfrm>
          <a:prstGeom prst="rect">
            <a:avLst/>
          </a:prstGeom>
          <a:noFill/>
          <a:ln/>
        </p:spPr>
        <p:txBody>
          <a:bodyPr wrap="square" lIns="0" tIns="0" rIns="0" bIns="0" rtlCol="0" anchor="t"/>
          <a:lstStyle/>
          <a:p>
            <a:pPr indent="0" marL="0">
              <a:buNone/>
            </a:pPr>
            <a:r>
              <a:rPr lang="en-US" sz="1700" b="1" dirty="0">
                <a:solidFill>
                  <a:srgbClr val="1F4D3A"/>
                </a:solidFill>
              </a:rPr>
              <a:t>Actuar</a:t>
            </a:r>
            <a:endParaRPr lang="en-US" sz="1700" dirty="0"/>
          </a:p>
        </p:txBody>
      </p:sp>
      <p:sp>
        <p:nvSpPr>
          <p:cNvPr id="22" name="Text 20"/>
          <p:cNvSpPr txBox="1"/>
          <p:nvPr/>
        </p:nvSpPr>
        <p:spPr>
          <a:xfrm>
            <a:off x="5852160" y="3520440"/>
            <a:ext cx="2651760" cy="777240"/>
          </a:xfrm>
          <a:prstGeom prst="rect">
            <a:avLst/>
          </a:prstGeom>
          <a:noFill/>
          <a:ln/>
        </p:spPr>
        <p:txBody>
          <a:bodyPr wrap="square" lIns="0" tIns="0" rIns="0" bIns="0" rtlCol="0" anchor="t"/>
          <a:lstStyle/>
          <a:p>
            <a:pPr indent="0" marL="0">
              <a:buNone/>
            </a:pPr>
            <a:r>
              <a:rPr lang="en-US" sz="1300" dirty="0">
                <a:solidFill>
                  <a:srgbClr val="1E2A24"/>
                </a:solidFill>
              </a:rPr>
              <a:t>Dos PR de corrección y re-prueba en MariaDB 10.4 y MySQL 8</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rgbClr val="1F4D3A"/>
                </a:solidFill>
                <a:latin typeface="Cambria" pitchFamily="34" charset="0"/>
                <a:ea typeface="Cambria" pitchFamily="34" charset="-122"/>
                <a:cs typeface="Cambria" pitchFamily="34" charset="-120"/>
              </a:rPr>
              <a:t>Las pruebas encontraron cinco defectos ocultos</a:t>
            </a:r>
            <a:endParaRPr lang="en-US" sz="2400" dirty="0"/>
          </a:p>
        </p:txBody>
      </p:sp>
      <p:graphicFrame>
        <p:nvGraphicFramePr>
          <p:cNvPr id="3" name="Chart 0" descr=""/>
          <p:cNvGraphicFramePr/>
          <p:nvPr/>
        </p:nvGraphicFramePr>
        <p:xfrm>
          <a:off x="457200" y="1188720"/>
          <a:ext cx="4754880" cy="32918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486400" y="1188720"/>
            <a:ext cx="3200400" cy="987552"/>
          </a:xfrm>
          <a:prstGeom prst="roundRect">
            <a:avLst>
              <a:gd name="adj" fmla="val 7407"/>
            </a:avLst>
          </a:prstGeom>
          <a:solidFill>
            <a:srgbClr val="1F4D3A"/>
          </a:solidFill>
          <a:ln w="12700">
            <a:solidFill>
              <a:srgbClr val="1F4D3A"/>
            </a:solidFill>
            <a:prstDash val="solid"/>
          </a:ln>
        </p:spPr>
      </p:sp>
      <p:sp>
        <p:nvSpPr>
          <p:cNvPr id="5" name="Text 2"/>
          <p:cNvSpPr txBox="1"/>
          <p:nvPr/>
        </p:nvSpPr>
        <p:spPr>
          <a:xfrm>
            <a:off x="5669280" y="1261872"/>
            <a:ext cx="2834640" cy="502920"/>
          </a:xfrm>
          <a:prstGeom prst="rect">
            <a:avLst/>
          </a:prstGeom>
          <a:noFill/>
          <a:ln/>
        </p:spPr>
        <p:txBody>
          <a:bodyPr wrap="square" lIns="0" tIns="0" rIns="0" bIns="0" rtlCol="0" anchor="t"/>
          <a:lstStyle/>
          <a:p>
            <a:pPr indent="0" marL="0">
              <a:buNone/>
            </a:pPr>
            <a:r>
              <a:rPr lang="en-US" sz="2600" b="1" dirty="0">
                <a:solidFill>
                  <a:srgbClr val="E9A23B"/>
                </a:solidFill>
                <a:latin typeface="Cambria" pitchFamily="34" charset="0"/>
                <a:ea typeface="Cambria" pitchFamily="34" charset="-122"/>
                <a:cs typeface="Cambria" pitchFamily="34" charset="-120"/>
              </a:rPr>
              <a:t>90 / 90</a:t>
            </a:r>
            <a:endParaRPr lang="en-US" sz="2600" dirty="0"/>
          </a:p>
        </p:txBody>
      </p:sp>
      <p:sp>
        <p:nvSpPr>
          <p:cNvPr id="6" name="Text 3"/>
          <p:cNvSpPr txBox="1"/>
          <p:nvPr/>
        </p:nvSpPr>
        <p:spPr>
          <a:xfrm>
            <a:off x="5669280" y="1764792"/>
            <a:ext cx="2834640" cy="347472"/>
          </a:xfrm>
          <a:prstGeom prst="rect">
            <a:avLst/>
          </a:prstGeom>
          <a:noFill/>
          <a:ln/>
        </p:spPr>
        <p:txBody>
          <a:bodyPr wrap="square" lIns="0" tIns="0" rIns="0" bIns="0" rtlCol="0" anchor="t"/>
          <a:lstStyle/>
          <a:p>
            <a:pPr indent="0" marL="0">
              <a:buNone/>
            </a:pPr>
            <a:r>
              <a:rPr lang="en-US" sz="1200" dirty="0">
                <a:solidFill>
                  <a:srgbClr val="FFFFFF"/>
                </a:solidFill>
              </a:rPr>
              <a:t>pruebas pasan</a:t>
            </a:r>
            <a:endParaRPr lang="en-US" sz="1200" dirty="0"/>
          </a:p>
        </p:txBody>
      </p:sp>
      <p:sp>
        <p:nvSpPr>
          <p:cNvPr id="7" name="Shape 4"/>
          <p:cNvSpPr/>
          <p:nvPr/>
        </p:nvSpPr>
        <p:spPr>
          <a:xfrm>
            <a:off x="5486400" y="2304288"/>
            <a:ext cx="3200400" cy="987552"/>
          </a:xfrm>
          <a:prstGeom prst="roundRect">
            <a:avLst>
              <a:gd name="adj" fmla="val 7407"/>
            </a:avLst>
          </a:prstGeom>
          <a:solidFill>
            <a:srgbClr val="EAF3E4"/>
          </a:solidFill>
          <a:ln w="12700">
            <a:solidFill>
              <a:srgbClr val="EAF3E4"/>
            </a:solidFill>
            <a:prstDash val="solid"/>
          </a:ln>
        </p:spPr>
      </p:sp>
      <p:sp>
        <p:nvSpPr>
          <p:cNvPr id="8" name="Text 5"/>
          <p:cNvSpPr txBox="1"/>
          <p:nvPr/>
        </p:nvSpPr>
        <p:spPr>
          <a:xfrm>
            <a:off x="5669280" y="2377440"/>
            <a:ext cx="2834640" cy="502920"/>
          </a:xfrm>
          <a:prstGeom prst="rect">
            <a:avLst/>
          </a:prstGeom>
          <a:noFill/>
          <a:ln/>
        </p:spPr>
        <p:txBody>
          <a:bodyPr wrap="square" lIns="0" tIns="0" rIns="0" bIns="0" rtlCol="0" anchor="t"/>
          <a:lstStyle/>
          <a:p>
            <a:pPr indent="0" marL="0">
              <a:buNone/>
            </a:pPr>
            <a:r>
              <a:rPr lang="en-US" sz="2600" b="1" dirty="0">
                <a:solidFill>
                  <a:srgbClr val="2E7D57"/>
                </a:solidFill>
                <a:latin typeface="Cambria" pitchFamily="34" charset="0"/>
                <a:ea typeface="Cambria" pitchFamily="34" charset="-122"/>
                <a:cs typeface="Cambria" pitchFamily="34" charset="-120"/>
              </a:rPr>
              <a:t>82,3 %</a:t>
            </a:r>
            <a:endParaRPr lang="en-US" sz="2600" dirty="0"/>
          </a:p>
        </p:txBody>
      </p:sp>
      <p:sp>
        <p:nvSpPr>
          <p:cNvPr id="9" name="Text 6"/>
          <p:cNvSpPr txBox="1"/>
          <p:nvPr/>
        </p:nvSpPr>
        <p:spPr>
          <a:xfrm>
            <a:off x="5669280" y="2880360"/>
            <a:ext cx="2834640" cy="347472"/>
          </a:xfrm>
          <a:prstGeom prst="rect">
            <a:avLst/>
          </a:prstGeom>
          <a:noFill/>
          <a:ln/>
        </p:spPr>
        <p:txBody>
          <a:bodyPr wrap="square" lIns="0" tIns="0" rIns="0" bIns="0" rtlCol="0" anchor="t"/>
          <a:lstStyle/>
          <a:p>
            <a:pPr indent="0" marL="0">
              <a:buNone/>
            </a:pPr>
            <a:r>
              <a:rPr lang="en-US" sz="1200" dirty="0">
                <a:solidFill>
                  <a:srgbClr val="1E2A24"/>
                </a:solidFill>
              </a:rPr>
              <a:t>cobertura de líneas (meta: 70 %)</a:t>
            </a:r>
            <a:endParaRPr lang="en-US" sz="1200" dirty="0"/>
          </a:p>
        </p:txBody>
      </p:sp>
      <p:sp>
        <p:nvSpPr>
          <p:cNvPr id="10" name="Shape 7"/>
          <p:cNvSpPr/>
          <p:nvPr/>
        </p:nvSpPr>
        <p:spPr>
          <a:xfrm>
            <a:off x="5486400" y="3419856"/>
            <a:ext cx="3200400" cy="987552"/>
          </a:xfrm>
          <a:prstGeom prst="roundRect">
            <a:avLst>
              <a:gd name="adj" fmla="val 7407"/>
            </a:avLst>
          </a:prstGeom>
          <a:solidFill>
            <a:srgbClr val="EAF3E4"/>
          </a:solidFill>
          <a:ln w="12700">
            <a:solidFill>
              <a:srgbClr val="EAF3E4"/>
            </a:solidFill>
            <a:prstDash val="solid"/>
          </a:ln>
        </p:spPr>
      </p:sp>
      <p:sp>
        <p:nvSpPr>
          <p:cNvPr id="11" name="Text 8"/>
          <p:cNvSpPr txBox="1"/>
          <p:nvPr/>
        </p:nvSpPr>
        <p:spPr>
          <a:xfrm>
            <a:off x="5669280" y="3493008"/>
            <a:ext cx="2834640" cy="502920"/>
          </a:xfrm>
          <a:prstGeom prst="rect">
            <a:avLst/>
          </a:prstGeom>
          <a:noFill/>
          <a:ln/>
        </p:spPr>
        <p:txBody>
          <a:bodyPr wrap="square" lIns="0" tIns="0" rIns="0" bIns="0" rtlCol="0" anchor="t"/>
          <a:lstStyle/>
          <a:p>
            <a:pPr indent="0" marL="0">
              <a:buNone/>
            </a:pPr>
            <a:r>
              <a:rPr lang="en-US" sz="2600" b="1" dirty="0">
                <a:solidFill>
                  <a:srgbClr val="2E7D57"/>
                </a:solidFill>
                <a:latin typeface="Cambria" pitchFamily="34" charset="0"/>
                <a:ea typeface="Cambria" pitchFamily="34" charset="-122"/>
                <a:cs typeface="Cambria" pitchFamily="34" charset="-120"/>
              </a:rPr>
              <a:t>1 · 2 · 2</a:t>
            </a:r>
            <a:endParaRPr lang="en-US" sz="2600" dirty="0"/>
          </a:p>
        </p:txBody>
      </p:sp>
      <p:sp>
        <p:nvSpPr>
          <p:cNvPr id="12" name="Text 9"/>
          <p:cNvSpPr txBox="1"/>
          <p:nvPr/>
        </p:nvSpPr>
        <p:spPr>
          <a:xfrm>
            <a:off x="5669280" y="3995928"/>
            <a:ext cx="2834640" cy="347472"/>
          </a:xfrm>
          <a:prstGeom prst="rect">
            <a:avLst/>
          </a:prstGeom>
          <a:noFill/>
          <a:ln/>
        </p:spPr>
        <p:txBody>
          <a:bodyPr wrap="square" lIns="0" tIns="0" rIns="0" bIns="0" rtlCol="0" anchor="t"/>
          <a:lstStyle/>
          <a:p>
            <a:pPr indent="0" marL="0">
              <a:buNone/>
            </a:pPr>
            <a:r>
              <a:rPr lang="en-US" sz="1200" dirty="0">
                <a:solidFill>
                  <a:srgbClr val="1E2A24"/>
                </a:solidFill>
              </a:rPr>
              <a:t>defectos de severidad alta · media · baja</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ISO 9000 no prueba el software: exige que la calidad se demuestre</a:t>
            </a:r>
            <a:endParaRPr lang="en-US" sz="3800" dirty="0"/>
          </a:p>
        </p:txBody>
      </p:sp>
      <p:sp>
        <p:nvSpPr>
          <p:cNvPr id="3" name="Shape 1"/>
          <p:cNvSpPr/>
          <p:nvPr/>
        </p:nvSpPr>
        <p:spPr>
          <a:xfrm>
            <a:off x="548640" y="2880360"/>
            <a:ext cx="365760" cy="365760"/>
          </a:xfrm>
          <a:prstGeom prst="ellipse">
            <a:avLst/>
          </a:prstGeom>
          <a:solidFill>
            <a:srgbClr val="E9A23B"/>
          </a:solidFill>
          <a:ln w="12700">
            <a:solidFill>
              <a:srgbClr val="E9A23B"/>
            </a:solidFill>
            <a:prstDash val="solid"/>
          </a:ln>
        </p:spPr>
      </p:sp>
      <p:sp>
        <p:nvSpPr>
          <p:cNvPr id="4" name="Text 2"/>
          <p:cNvSpPr txBox="1"/>
          <p:nvPr/>
        </p:nvSpPr>
        <p:spPr>
          <a:xfrm>
            <a:off x="548640" y="2880360"/>
            <a:ext cx="365760" cy="365760"/>
          </a:xfrm>
          <a:prstGeom prst="rect">
            <a:avLst/>
          </a:prstGeom>
          <a:noFill/>
          <a:ln/>
        </p:spPr>
        <p:txBody>
          <a:bodyPr wrap="square" lIns="0" tIns="0" rIns="0" bIns="0" rtlCol="0" anchor="ctr"/>
          <a:lstStyle/>
          <a:p>
            <a:pPr algn="ctr" indent="0" marL="0">
              <a:buNone/>
            </a:pPr>
            <a:r>
              <a:rPr lang="en-US" sz="1200" b="1" dirty="0">
                <a:solidFill>
                  <a:srgbClr val="1F4D3A"/>
                </a:solidFill>
              </a:rPr>
              <a:t>1</a:t>
            </a:r>
            <a:endParaRPr lang="en-US" sz="1200" dirty="0"/>
          </a:p>
        </p:txBody>
      </p:sp>
      <p:sp>
        <p:nvSpPr>
          <p:cNvPr id="5" name="Text 3"/>
          <p:cNvSpPr txBox="1"/>
          <p:nvPr/>
        </p:nvSpPr>
        <p:spPr>
          <a:xfrm>
            <a:off x="1097280" y="2898648"/>
            <a:ext cx="6035040" cy="365760"/>
          </a:xfrm>
          <a:prstGeom prst="rect">
            <a:avLst/>
          </a:prstGeom>
          <a:noFill/>
          <a:ln/>
        </p:spPr>
        <p:txBody>
          <a:bodyPr wrap="square" lIns="0" tIns="0" rIns="0" bIns="0" rtlCol="0" anchor="ctr"/>
          <a:lstStyle/>
          <a:p>
            <a:pPr indent="0" marL="0">
              <a:buNone/>
            </a:pPr>
            <a:r>
              <a:rPr lang="en-US" sz="1500" dirty="0">
                <a:solidFill>
                  <a:srgbClr val="FFFFFF"/>
                </a:solidFill>
              </a:rPr>
              <a:t>La certificación evalúa el proceso; las pruebas producen la evidencia.</a:t>
            </a:r>
            <a:endParaRPr lang="en-US" sz="1500" dirty="0"/>
          </a:p>
        </p:txBody>
      </p:sp>
      <p:sp>
        <p:nvSpPr>
          <p:cNvPr id="6" name="Shape 4"/>
          <p:cNvSpPr/>
          <p:nvPr/>
        </p:nvSpPr>
        <p:spPr>
          <a:xfrm>
            <a:off x="548640" y="3429000"/>
            <a:ext cx="365760" cy="365760"/>
          </a:xfrm>
          <a:prstGeom prst="ellipse">
            <a:avLst/>
          </a:prstGeom>
          <a:solidFill>
            <a:srgbClr val="E9A23B"/>
          </a:solidFill>
          <a:ln w="12700">
            <a:solidFill>
              <a:srgbClr val="E9A23B"/>
            </a:solidFill>
            <a:prstDash val="solid"/>
          </a:ln>
        </p:spPr>
      </p:sp>
      <p:sp>
        <p:nvSpPr>
          <p:cNvPr id="7" name="Text 5"/>
          <p:cNvSpPr txBox="1"/>
          <p:nvPr/>
        </p:nvSpPr>
        <p:spPr>
          <a:xfrm>
            <a:off x="548640" y="3429000"/>
            <a:ext cx="365760" cy="365760"/>
          </a:xfrm>
          <a:prstGeom prst="rect">
            <a:avLst/>
          </a:prstGeom>
          <a:noFill/>
          <a:ln/>
        </p:spPr>
        <p:txBody>
          <a:bodyPr wrap="square" lIns="0" tIns="0" rIns="0" bIns="0" rtlCol="0" anchor="ctr"/>
          <a:lstStyle/>
          <a:p>
            <a:pPr algn="ctr" indent="0" marL="0">
              <a:buNone/>
            </a:pPr>
            <a:r>
              <a:rPr lang="en-US" sz="1200" b="1" dirty="0">
                <a:solidFill>
                  <a:srgbClr val="1F4D3A"/>
                </a:solidFill>
              </a:rPr>
              <a:t>2</a:t>
            </a:r>
            <a:endParaRPr lang="en-US" sz="1200" dirty="0"/>
          </a:p>
        </p:txBody>
      </p:sp>
      <p:sp>
        <p:nvSpPr>
          <p:cNvPr id="8" name="Text 6"/>
          <p:cNvSpPr txBox="1"/>
          <p:nvPr/>
        </p:nvSpPr>
        <p:spPr>
          <a:xfrm>
            <a:off x="1097280" y="3447288"/>
            <a:ext cx="6035040" cy="365760"/>
          </a:xfrm>
          <a:prstGeom prst="rect">
            <a:avLst/>
          </a:prstGeom>
          <a:noFill/>
          <a:ln/>
        </p:spPr>
        <p:txBody>
          <a:bodyPr wrap="square" lIns="0" tIns="0" rIns="0" bIns="0" rtlCol="0" anchor="ctr"/>
          <a:lstStyle/>
          <a:p>
            <a:pPr indent="0" marL="0">
              <a:buNone/>
            </a:pPr>
            <a:r>
              <a:rPr lang="en-US" sz="1500" dirty="0">
                <a:solidFill>
                  <a:srgbClr val="FFFFFF"/>
                </a:solidFill>
              </a:rPr>
              <a:t>El control de cambios hace que cada versión sea rastreable y reversible.</a:t>
            </a:r>
            <a:endParaRPr lang="en-US" sz="1500" dirty="0"/>
          </a:p>
        </p:txBody>
      </p:sp>
      <p:sp>
        <p:nvSpPr>
          <p:cNvPr id="9" name="Shape 7"/>
          <p:cNvSpPr/>
          <p:nvPr/>
        </p:nvSpPr>
        <p:spPr>
          <a:xfrm>
            <a:off x="548640" y="3977640"/>
            <a:ext cx="365760" cy="365760"/>
          </a:xfrm>
          <a:prstGeom prst="ellipse">
            <a:avLst/>
          </a:prstGeom>
          <a:solidFill>
            <a:srgbClr val="E9A23B"/>
          </a:solidFill>
          <a:ln w="12700">
            <a:solidFill>
              <a:srgbClr val="E9A23B"/>
            </a:solidFill>
            <a:prstDash val="solid"/>
          </a:ln>
        </p:spPr>
      </p:sp>
      <p:sp>
        <p:nvSpPr>
          <p:cNvPr id="10" name="Text 8"/>
          <p:cNvSpPr txBox="1"/>
          <p:nvPr/>
        </p:nvSpPr>
        <p:spPr>
          <a:xfrm>
            <a:off x="548640" y="3977640"/>
            <a:ext cx="365760" cy="365760"/>
          </a:xfrm>
          <a:prstGeom prst="rect">
            <a:avLst/>
          </a:prstGeom>
          <a:noFill/>
          <a:ln/>
        </p:spPr>
        <p:txBody>
          <a:bodyPr wrap="square" lIns="0" tIns="0" rIns="0" bIns="0" rtlCol="0" anchor="ctr"/>
          <a:lstStyle/>
          <a:p>
            <a:pPr algn="ctr" indent="0" marL="0">
              <a:buNone/>
            </a:pPr>
            <a:r>
              <a:rPr lang="en-US" sz="1200" b="1" dirty="0">
                <a:solidFill>
                  <a:srgbClr val="1F4D3A"/>
                </a:solidFill>
              </a:rPr>
              <a:t>3</a:t>
            </a:r>
            <a:endParaRPr lang="en-US" sz="1200" dirty="0"/>
          </a:p>
        </p:txBody>
      </p:sp>
      <p:sp>
        <p:nvSpPr>
          <p:cNvPr id="11" name="Text 9"/>
          <p:cNvSpPr txBox="1"/>
          <p:nvPr/>
        </p:nvSpPr>
        <p:spPr>
          <a:xfrm>
            <a:off x="1097280" y="3995928"/>
            <a:ext cx="6035040" cy="365760"/>
          </a:xfrm>
          <a:prstGeom prst="rect">
            <a:avLst/>
          </a:prstGeom>
          <a:noFill/>
          <a:ln/>
        </p:spPr>
        <p:txBody>
          <a:bodyPr wrap="square" lIns="0" tIns="0" rIns="0" bIns="0" rtlCol="0" anchor="ctr"/>
          <a:lstStyle/>
          <a:p>
            <a:pPr indent="0" marL="0">
              <a:buNone/>
            </a:pPr>
            <a:r>
              <a:rPr lang="en-US" sz="1500" dirty="0">
                <a:solidFill>
                  <a:srgbClr val="FFFFFF"/>
                </a:solidFill>
              </a:rPr>
              <a:t>Mejora continua: cada defecto encontrado quedó convertido en una prueba.</a:t>
            </a:r>
            <a:endParaRPr lang="en-US" sz="1500" dirty="0"/>
          </a:p>
        </p:txBody>
      </p:sp>
      <p:sp>
        <p:nvSpPr>
          <p:cNvPr id="12" name="Text 10"/>
          <p:cNvSpPr txBox="1"/>
          <p:nvPr/>
        </p:nvSpPr>
        <p:spPr>
          <a:xfrm>
            <a:off x="6949440" y="4206240"/>
            <a:ext cx="1828800" cy="457200"/>
          </a:xfrm>
          <a:prstGeom prst="rect">
            <a:avLst/>
          </a:prstGeom>
          <a:noFill/>
          <a:ln/>
        </p:spPr>
        <p:txBody>
          <a:bodyPr wrap="square" lIns="0" tIns="0" rIns="0" bIns="0" rtlCol="0" anchor="t"/>
          <a:lstStyle/>
          <a:p>
            <a:pPr algn="r" indent="0" marL="0">
              <a:buNone/>
            </a:pPr>
            <a:r>
              <a:rPr lang="en-US" sz="2200" b="1" dirty="0">
                <a:solidFill>
                  <a:srgbClr val="7FB069"/>
                </a:solidFill>
              </a:rPr>
              <a:t>¿Preguntas?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 9000 y la gestión de la calidad en EcoRecicla</dc:title>
  <dc:subject>PptxGenJS Presentation</dc:subject>
  <dc:creator>David Alejandro Zambrano Arguello y Samuel Ossa Escobar</dc:creator>
  <cp:lastModifiedBy>David Alejandro Zambrano Arguello y Samuel Ossa Escobar</cp:lastModifiedBy>
  <cp:revision>1</cp:revision>
  <dcterms:created xsi:type="dcterms:W3CDTF">2026-10-25T05:06:12Z</dcterms:created>
  <dcterms:modified xsi:type="dcterms:W3CDTF">2026-10-25T05:06:12Z</dcterms:modified>
</cp:coreProperties>
</file>