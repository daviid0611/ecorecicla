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Samuel Ossa. With my teammate David Zambrano, I will summarize Lab Guide 7: quality standards, version control and software testing, applied to EcoRecicla, our recycling web app for Bogotá.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theory. ISO 9000 gives the principles and the vocabulary of quality management, and ISO 9001 is the only certifiable standard of the family. Its new edition, published in September 2026, asks for a stronger control of changes. The big lesson is to move from inspecting at the end to preventing during the whole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our research we found that not all ISO standards follow the high-level structure: only management system standards, like ISO 9001, do. In Colombia, companies such as Perficient Latin America and Heinsohn reached CMMI level 5. These certifications do not test software, but they require evidence, and testing produces that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session one we practiced version control with Git and GitHub. Every change follows six steps: issue, branch, commits, pull request, automatic tests with review, and merge. Here are our pull requests and the branch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created a real merge conflict. Two branches changed the same line of the README. Git marked the conflict, and we solved it by hand, combining both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sessions two and three we executed our test plan. We wrote ninety automated tests with Jest and Supertest. This test checks the limits of the recycled quantity: valid values must be saved, and invalid values must be rejected without saving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Actions runs all the tests on every pull request with MySQL 8. The first run failed and revealed five real defects. For example, a quantity of 0.004 kilograms caused an internal server error, and a date like February 30 was accepted.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defect became a GitHub issue, was fixed in its own branch and was tested again. This is the fix for the dates: it rebuilds the date and checks that it really exists in the calendar.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all ninety tests pass, and line coverage is eighty-two percent. Our conclusion: ISO 9000 does not test the software, but it asks us to prove quality with evidence. Thank you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SCURA">
    <p:bg>
      <p:bgPr>
        <a:solidFill>
          <a:srgbClr val="1F4D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8046720" cy="1371600"/>
          </a:xfrm>
          <a:prstGeom prst="rect">
            <a:avLst/>
          </a:prstGeom>
          <a:noFill/>
          <a:ln/>
        </p:spPr>
        <p:txBody>
          <a:bodyPr wrap="square" rtlCol="0"/>
          <a:lstStyle>
            <a:lvl1pPr indent="0" marL="0">
              <a:buNone/>
              <a:defRPr lang="en-US" sz="3600" b="1" dirty="0">
                <a:solidFill>
                  <a:srgbClr val="FFFFFF"/>
                </a:solidFill>
                <a:latin typeface="Cambria" pitchFamily="34" charset="0"/>
                <a:ea typeface="Cambria" pitchFamily="34" charset="-122"/>
                <a:cs typeface="Cambria" pitchFamily="34" charset="-120"/>
              </a:defRPr>
            </a:lvl1pPr>
          </a:lstStyle>
          <a:p>
            <a:pPr indent="0" marL="0">
              <a:buNone/>
            </a:pP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65760" y="182880"/>
            <a:ext cx="8412480" cy="594360"/>
          </a:xfrm>
          <a:prstGeom prst="rect">
            <a:avLst/>
          </a:prstGeom>
          <a:noFill/>
          <a:ln/>
        </p:spPr>
        <p:txBody>
          <a:bodyPr wrap="square" rtlCol="0"/>
          <a:lstStyle>
            <a:lvl1pPr algn="l" indent="0" marL="0">
              <a:buNone/>
              <a:defRPr lang="en-US" sz="2400" b="1" dirty="0">
                <a:solidFill>
                  <a:srgbClr val="1F4D3A"/>
                </a:solidFill>
                <a:latin typeface="Cambria" pitchFamily="34" charset="0"/>
                <a:ea typeface="Cambria" pitchFamily="34" charset="-122"/>
                <a:cs typeface="Cambria" pitchFamily="34" charset="-120"/>
              </a:defRPr>
            </a:lvl1pPr>
          </a:lstStyle>
          <a:p>
            <a:pPr algn="l" indent="0" marL="0">
              <a:buNone/>
            </a:pPr>
            <a:endParaRPr lang="en-US" sz="2400" dirty="0"/>
          </a:p>
        </p:txBody>
      </p:sp>
      <p:sp>
        <p:nvSpPr>
          <p:cNvPr id="3" name="Text 0"/>
          <p:cNvSpPr/>
          <p:nvPr/>
        </p:nvSpPr>
        <p:spPr>
          <a:xfrm>
            <a:off x="365760" y="4846320"/>
            <a:ext cx="6400800" cy="201168"/>
          </a:xfrm>
          <a:prstGeom prst="rect">
            <a:avLst/>
          </a:prstGeom>
          <a:noFill/>
          <a:ln/>
        </p:spPr>
        <p:txBody>
          <a:bodyPr wrap="square" lIns="0" tIns="0" rIns="0" bIns="0" rtlCol="0" anchor="ctr"/>
          <a:lstStyle/>
          <a:p>
            <a:pPr indent="0" marL="0">
              <a:buNone/>
            </a:pPr>
            <a:r>
              <a:rPr lang="en-US" sz="900" dirty="0">
                <a:solidFill>
                  <a:srgbClr val="5B6B63"/>
                </a:solidFill>
              </a:rPr>
              <a:t>EcoRecicla · Lab Guide 7 · Software Quality Standards and Metrics</a:t>
            </a:r>
            <a:endParaRPr lang="en-US" sz="900" dirty="0"/>
          </a:p>
        </p:txBody>
      </p:sp>
      <p:sp>
        <p:nvSpPr>
          <p:cNvPr id="25" name="Slide Number Placeholder 0"/>
          <p:cNvSpPr>
            <a:spLocks noGrp="1"/>
          </p:cNvSpPr>
          <p:nvPr>
            <p:ph type="sldNum" sz="quarter" idx="4294967295"/>
          </p:nvPr>
        </p:nvSpPr>
        <p:spPr>
          <a:xfrm>
            <a:off x="8366760" y="481888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3"/>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66760" y="481888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8046720" cy="1371600"/>
          </a:xfrm>
          <a:prstGeom prst="rect">
            <a:avLst/>
          </a:prstGeom>
          <a:noFill/>
          <a:ln/>
        </p:spPr>
        <p:txBody>
          <a:bodyPr wrap="square" rtlCol="0" anchor="b"/>
          <a:lstStyle/>
          <a:p>
            <a:pPr indent="0" marL="0">
              <a:buNone/>
            </a:pPr>
            <a:r>
              <a:rPr lang="en-US" sz="3600" b="1" dirty="0">
                <a:solidFill>
                  <a:srgbClr val="FFFFFF"/>
                </a:solidFill>
                <a:latin typeface="Cambria" pitchFamily="34" charset="0"/>
                <a:ea typeface="Cambria" pitchFamily="34" charset="-122"/>
                <a:cs typeface="Cambria" pitchFamily="34" charset="-120"/>
              </a:rPr>
              <a:t>Lab Guide 7: Quality Standards, Version Control and Software Testing</a:t>
            </a:r>
            <a:endParaRPr lang="en-US" sz="3600" dirty="0"/>
          </a:p>
        </p:txBody>
      </p:sp>
      <p:sp>
        <p:nvSpPr>
          <p:cNvPr id="3" name="Text 1"/>
          <p:cNvSpPr txBox="1"/>
          <p:nvPr/>
        </p:nvSpPr>
        <p:spPr>
          <a:xfrm>
            <a:off x="548640" y="2606040"/>
            <a:ext cx="7863840" cy="411480"/>
          </a:xfrm>
          <a:prstGeom prst="rect">
            <a:avLst/>
          </a:prstGeom>
          <a:noFill/>
          <a:ln/>
        </p:spPr>
        <p:txBody>
          <a:bodyPr wrap="square" lIns="0" tIns="0" rIns="0" bIns="0" rtlCol="0" anchor="t"/>
          <a:lstStyle/>
          <a:p>
            <a:pPr indent="0" marL="0">
              <a:buNone/>
            </a:pPr>
            <a:r>
              <a:rPr lang="en-US" sz="1800" dirty="0">
                <a:solidFill>
                  <a:srgbClr val="7FB069"/>
                </a:solidFill>
              </a:rPr>
              <a:t>Applied to EcoRecicla, a recycling web app for Bogotá</a:t>
            </a:r>
            <a:endParaRPr lang="en-US" sz="1800" dirty="0"/>
          </a:p>
        </p:txBody>
      </p:sp>
      <p:sp>
        <p:nvSpPr>
          <p:cNvPr id="4" name="Text 2"/>
          <p:cNvSpPr txBox="1"/>
          <p:nvPr/>
        </p:nvSpPr>
        <p:spPr>
          <a:xfrm>
            <a:off x="548640" y="3794760"/>
            <a:ext cx="7863840" cy="640080"/>
          </a:xfrm>
          <a:prstGeom prst="rect">
            <a:avLst/>
          </a:prstGeom>
          <a:noFill/>
          <a:ln/>
        </p:spPr>
        <p:txBody>
          <a:bodyPr wrap="square" lIns="0" tIns="0" rIns="0" bIns="0" rtlCol="0" anchor="t"/>
          <a:lstStyle/>
          <a:p>
            <a:pPr indent="0" marL="0">
              <a:buNone/>
            </a:pPr>
            <a:r>
              <a:rPr lang="en-US" sz="1300" dirty="0">
                <a:solidFill>
                  <a:srgbClr val="CFE3D3"/>
                </a:solidFill>
              </a:rPr>
              <a:t>Samuel Ossa Escobar · David Alejandro Zambrano Arguello</a:t>
            </a:r>
            <a:endParaRPr lang="en-US" sz="1300" dirty="0"/>
          </a:p>
          <a:p>
            <a:pPr indent="0" marL="0">
              <a:buNone/>
            </a:pPr>
            <a:r>
              <a:rPr lang="en-US" sz="1300" dirty="0">
                <a:solidFill>
                  <a:srgbClr val="CFE3D3"/>
                </a:solidFill>
              </a:rPr>
              <a:t>Universidad Manuela Beltrán · Software Quality Standards and Metrics</a:t>
            </a:r>
            <a:endParaRPr lang="en-US" sz="1300" dirty="0"/>
          </a:p>
        </p:txBody>
      </p:sp>
      <p:sp>
        <p:nvSpPr>
          <p:cNvPr id="5" name="Shape 3"/>
          <p:cNvSpPr/>
          <p:nvPr/>
        </p:nvSpPr>
        <p:spPr>
          <a:xfrm>
            <a:off x="7772400" y="411480"/>
            <a:ext cx="868680" cy="868680"/>
          </a:xfrm>
          <a:prstGeom prst="ellipse">
            <a:avLst/>
          </a:prstGeom>
          <a:solidFill>
            <a:srgbClr val="E9A23B"/>
          </a:solidFill>
          <a:ln w="12700">
            <a:solidFill>
              <a:srgbClr val="E9A23B"/>
            </a:solidFill>
            <a:prstDash val="solid"/>
          </a:ln>
        </p:spPr>
      </p:sp>
      <p:sp>
        <p:nvSpPr>
          <p:cNvPr id="6" name="Text 4"/>
          <p:cNvSpPr txBox="1"/>
          <p:nvPr/>
        </p:nvSpPr>
        <p:spPr>
          <a:xfrm>
            <a:off x="7772400" y="411480"/>
            <a:ext cx="868680" cy="868680"/>
          </a:xfrm>
          <a:prstGeom prst="rect">
            <a:avLst/>
          </a:prstGeom>
          <a:noFill/>
          <a:ln/>
        </p:spPr>
        <p:txBody>
          <a:bodyPr wrap="square" lIns="0" tIns="0" rIns="0" bIns="0" rtlCol="0" anchor="ctr"/>
          <a:lstStyle/>
          <a:p>
            <a:pPr algn="ctr" indent="0" marL="0">
              <a:buNone/>
            </a:pPr>
            <a:r>
              <a:rPr lang="en-US" sz="2200" b="1" dirty="0">
                <a:solidFill>
                  <a:srgbClr val="1F4D3A"/>
                </a:solidFill>
              </a:rPr>
              <a:t>G7</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365760" y="182880"/>
            <a:ext cx="8412480" cy="594360"/>
          </a:xfrm>
          <a:prstGeom prst="rect">
            <a:avLst/>
          </a:prstGeom>
          <a:noFill/>
          <a:ln/>
        </p:spPr>
        <p:txBody>
          <a:bodyPr wrap="square" lIns="0" tIns="0" rIns="0" bIns="0" rtlCol="0" anchor="ctr"/>
          <a:lstStyle/>
          <a:p>
            <a:pPr algn="l" indent="0" marL="0">
              <a:buNone/>
            </a:pPr>
            <a:r>
              <a:rPr lang="en-US" sz="2400" b="1" dirty="0">
                <a:solidFill>
                  <a:srgbClr val="1F4D3A"/>
                </a:solidFill>
                <a:latin typeface="Cambria" pitchFamily="34" charset="0"/>
                <a:ea typeface="Cambria" pitchFamily="34" charset="-122"/>
                <a:cs typeface="Cambria" pitchFamily="34" charset="-120"/>
              </a:rPr>
              <a:t>ISO 9000: prove quality, do not just inspect it</a:t>
            </a:r>
            <a:endParaRPr lang="en-US" sz="2400" dirty="0"/>
          </a:p>
        </p:txBody>
      </p:sp>
      <p:sp>
        <p:nvSpPr>
          <p:cNvPr id="3" name="Shape 1"/>
          <p:cNvSpPr/>
          <p:nvPr/>
        </p:nvSpPr>
        <p:spPr>
          <a:xfrm>
            <a:off x="365760" y="1005840"/>
            <a:ext cx="4206240" cy="822960"/>
          </a:xfrm>
          <a:prstGeom prst="roundRect">
            <a:avLst>
              <a:gd name="adj" fmla="val 8889"/>
            </a:avLst>
          </a:prstGeom>
          <a:solidFill>
            <a:srgbClr val="EAF3E4"/>
          </a:solidFill>
          <a:ln w="12700">
            <a:solidFill>
              <a:srgbClr val="EAF3E4"/>
            </a:solidFill>
            <a:prstDash val="solid"/>
          </a:ln>
        </p:spPr>
      </p:sp>
      <p:sp>
        <p:nvSpPr>
          <p:cNvPr id="4" name="Shape 2"/>
          <p:cNvSpPr/>
          <p:nvPr/>
        </p:nvSpPr>
        <p:spPr>
          <a:xfrm>
            <a:off x="502920" y="1143000"/>
            <a:ext cx="548640" cy="548640"/>
          </a:xfrm>
          <a:prstGeom prst="ellipse">
            <a:avLst/>
          </a:prstGeom>
          <a:solidFill>
            <a:srgbClr val="2E7D57"/>
          </a:solidFill>
          <a:ln w="12700">
            <a:solidFill>
              <a:srgbClr val="2E7D57"/>
            </a:solidFill>
            <a:prstDash val="solid"/>
          </a:ln>
        </p:spPr>
      </p:sp>
      <p:sp>
        <p:nvSpPr>
          <p:cNvPr id="5" name="Text 3"/>
          <p:cNvSpPr txBox="1"/>
          <p:nvPr/>
        </p:nvSpPr>
        <p:spPr>
          <a:xfrm>
            <a:off x="502920" y="114300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234440" y="1097280"/>
            <a:ext cx="3200400" cy="292608"/>
          </a:xfrm>
          <a:prstGeom prst="rect">
            <a:avLst/>
          </a:prstGeom>
          <a:noFill/>
          <a:ln/>
        </p:spPr>
        <p:txBody>
          <a:bodyPr wrap="square" lIns="0" tIns="0" rIns="0" bIns="0" rtlCol="0" anchor="t"/>
          <a:lstStyle/>
          <a:p>
            <a:pPr indent="0" marL="0">
              <a:buNone/>
            </a:pPr>
            <a:r>
              <a:rPr lang="en-US" sz="1500" b="1" dirty="0">
                <a:solidFill>
                  <a:srgbClr val="1F4D3A"/>
                </a:solidFill>
              </a:rPr>
              <a:t>ISO 9000</a:t>
            </a:r>
            <a:endParaRPr lang="en-US" sz="1500" dirty="0"/>
          </a:p>
        </p:txBody>
      </p:sp>
      <p:sp>
        <p:nvSpPr>
          <p:cNvPr id="7" name="Text 5"/>
          <p:cNvSpPr txBox="1"/>
          <p:nvPr/>
        </p:nvSpPr>
        <p:spPr>
          <a:xfrm>
            <a:off x="1234440" y="1408176"/>
            <a:ext cx="3200400" cy="384048"/>
          </a:xfrm>
          <a:prstGeom prst="rect">
            <a:avLst/>
          </a:prstGeom>
          <a:noFill/>
          <a:ln/>
        </p:spPr>
        <p:txBody>
          <a:bodyPr wrap="square" lIns="0" tIns="0" rIns="0" bIns="0" rtlCol="0" anchor="t"/>
          <a:lstStyle/>
          <a:p>
            <a:pPr indent="0" marL="0">
              <a:buNone/>
            </a:pPr>
            <a:r>
              <a:rPr lang="en-US" sz="1200" dirty="0">
                <a:solidFill>
                  <a:srgbClr val="5B6B63"/>
                </a:solidFill>
              </a:rPr>
              <a:t>Principles and vocabulary of quality management</a:t>
            </a:r>
            <a:endParaRPr lang="en-US" sz="1200" dirty="0"/>
          </a:p>
        </p:txBody>
      </p:sp>
      <p:sp>
        <p:nvSpPr>
          <p:cNvPr id="8" name="Shape 6"/>
          <p:cNvSpPr/>
          <p:nvPr/>
        </p:nvSpPr>
        <p:spPr>
          <a:xfrm>
            <a:off x="365760" y="1965960"/>
            <a:ext cx="4206240" cy="822960"/>
          </a:xfrm>
          <a:prstGeom prst="roundRect">
            <a:avLst>
              <a:gd name="adj" fmla="val 8889"/>
            </a:avLst>
          </a:prstGeom>
          <a:solidFill>
            <a:srgbClr val="EAF3E4"/>
          </a:solidFill>
          <a:ln w="12700">
            <a:solidFill>
              <a:srgbClr val="EAF3E4"/>
            </a:solidFill>
            <a:prstDash val="solid"/>
          </a:ln>
        </p:spPr>
      </p:sp>
      <p:sp>
        <p:nvSpPr>
          <p:cNvPr id="9" name="Shape 7"/>
          <p:cNvSpPr/>
          <p:nvPr/>
        </p:nvSpPr>
        <p:spPr>
          <a:xfrm>
            <a:off x="502920" y="2103120"/>
            <a:ext cx="548640" cy="548640"/>
          </a:xfrm>
          <a:prstGeom prst="ellipse">
            <a:avLst/>
          </a:prstGeom>
          <a:solidFill>
            <a:srgbClr val="2E7D57"/>
          </a:solidFill>
          <a:ln w="12700">
            <a:solidFill>
              <a:srgbClr val="2E7D57"/>
            </a:solidFill>
            <a:prstDash val="solid"/>
          </a:ln>
        </p:spPr>
      </p:sp>
      <p:sp>
        <p:nvSpPr>
          <p:cNvPr id="10" name="Text 8"/>
          <p:cNvSpPr txBox="1"/>
          <p:nvPr/>
        </p:nvSpPr>
        <p:spPr>
          <a:xfrm>
            <a:off x="502920" y="210312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1234440" y="2057400"/>
            <a:ext cx="3200400" cy="292608"/>
          </a:xfrm>
          <a:prstGeom prst="rect">
            <a:avLst/>
          </a:prstGeom>
          <a:noFill/>
          <a:ln/>
        </p:spPr>
        <p:txBody>
          <a:bodyPr wrap="square" lIns="0" tIns="0" rIns="0" bIns="0" rtlCol="0" anchor="t"/>
          <a:lstStyle/>
          <a:p>
            <a:pPr indent="0" marL="0">
              <a:buNone/>
            </a:pPr>
            <a:r>
              <a:rPr lang="en-US" sz="1500" b="1" dirty="0">
                <a:solidFill>
                  <a:srgbClr val="1F4D3A"/>
                </a:solidFill>
              </a:rPr>
              <a:t>ISO 9001</a:t>
            </a:r>
            <a:endParaRPr lang="en-US" sz="1500" dirty="0"/>
          </a:p>
        </p:txBody>
      </p:sp>
      <p:sp>
        <p:nvSpPr>
          <p:cNvPr id="12" name="Text 10"/>
          <p:cNvSpPr txBox="1"/>
          <p:nvPr/>
        </p:nvSpPr>
        <p:spPr>
          <a:xfrm>
            <a:off x="1234440" y="2368296"/>
            <a:ext cx="3200400" cy="384048"/>
          </a:xfrm>
          <a:prstGeom prst="rect">
            <a:avLst/>
          </a:prstGeom>
          <a:noFill/>
          <a:ln/>
        </p:spPr>
        <p:txBody>
          <a:bodyPr wrap="square" lIns="0" tIns="0" rIns="0" bIns="0" rtlCol="0" anchor="t"/>
          <a:lstStyle/>
          <a:p>
            <a:pPr indent="0" marL="0">
              <a:buNone/>
            </a:pPr>
            <a:r>
              <a:rPr lang="en-US" sz="1200" dirty="0">
                <a:solidFill>
                  <a:srgbClr val="5B6B63"/>
                </a:solidFill>
              </a:rPr>
              <a:t>Requirements; the only certifiable standard of the family</a:t>
            </a:r>
            <a:endParaRPr lang="en-US" sz="1200" dirty="0"/>
          </a:p>
        </p:txBody>
      </p:sp>
      <p:sp>
        <p:nvSpPr>
          <p:cNvPr id="13" name="Shape 11"/>
          <p:cNvSpPr/>
          <p:nvPr/>
        </p:nvSpPr>
        <p:spPr>
          <a:xfrm>
            <a:off x="365760" y="2926080"/>
            <a:ext cx="4206240" cy="822960"/>
          </a:xfrm>
          <a:prstGeom prst="roundRect">
            <a:avLst>
              <a:gd name="adj" fmla="val 8889"/>
            </a:avLst>
          </a:prstGeom>
          <a:solidFill>
            <a:srgbClr val="FBEBD2"/>
          </a:solidFill>
          <a:ln w="12700">
            <a:solidFill>
              <a:srgbClr val="FBEBD2"/>
            </a:solidFill>
            <a:prstDash val="solid"/>
          </a:ln>
        </p:spPr>
      </p:sp>
      <p:sp>
        <p:nvSpPr>
          <p:cNvPr id="14" name="Shape 12"/>
          <p:cNvSpPr/>
          <p:nvPr/>
        </p:nvSpPr>
        <p:spPr>
          <a:xfrm>
            <a:off x="502920" y="3063240"/>
            <a:ext cx="548640" cy="548640"/>
          </a:xfrm>
          <a:prstGeom prst="ellipse">
            <a:avLst/>
          </a:prstGeom>
          <a:solidFill>
            <a:srgbClr val="E9A23B"/>
          </a:solidFill>
          <a:ln w="12700">
            <a:solidFill>
              <a:srgbClr val="E9A23B"/>
            </a:solidFill>
            <a:prstDash val="solid"/>
          </a:ln>
        </p:spPr>
      </p:sp>
      <p:sp>
        <p:nvSpPr>
          <p:cNvPr id="15" name="Text 13"/>
          <p:cNvSpPr txBox="1"/>
          <p:nvPr/>
        </p:nvSpPr>
        <p:spPr>
          <a:xfrm>
            <a:off x="502920" y="3063240"/>
            <a:ext cx="548640" cy="548640"/>
          </a:xfrm>
          <a:prstGeom prst="rect">
            <a:avLst/>
          </a:prstGeom>
          <a:noFill/>
          <a:ln/>
        </p:spPr>
        <p:txBody>
          <a:bodyPr wrap="square" lIns="0" tIns="0" rIns="0" bIns="0" rtlCol="0" anchor="ctr"/>
          <a:lstStyle/>
          <a:p>
            <a:pPr algn="ctr" indent="0" marL="0">
              <a:buNone/>
            </a:pPr>
            <a:r>
              <a:rPr lang="en-US" sz="1400" b="1" dirty="0">
                <a:solidFill>
                  <a:srgbClr val="1F4D3A"/>
                </a:solidFill>
              </a:rPr>
              <a:t>3</a:t>
            </a:r>
            <a:endParaRPr lang="en-US" sz="1400" dirty="0"/>
          </a:p>
        </p:txBody>
      </p:sp>
      <p:sp>
        <p:nvSpPr>
          <p:cNvPr id="16" name="Text 14"/>
          <p:cNvSpPr txBox="1"/>
          <p:nvPr/>
        </p:nvSpPr>
        <p:spPr>
          <a:xfrm>
            <a:off x="1234440" y="3017520"/>
            <a:ext cx="3200400" cy="292608"/>
          </a:xfrm>
          <a:prstGeom prst="rect">
            <a:avLst/>
          </a:prstGeom>
          <a:noFill/>
          <a:ln/>
        </p:spPr>
        <p:txBody>
          <a:bodyPr wrap="square" lIns="0" tIns="0" rIns="0" bIns="0" rtlCol="0" anchor="t"/>
          <a:lstStyle/>
          <a:p>
            <a:pPr indent="0" marL="0">
              <a:buNone/>
            </a:pPr>
            <a:r>
              <a:rPr lang="en-US" sz="1500" b="1" dirty="0">
                <a:solidFill>
                  <a:srgbClr val="1F4D3A"/>
                </a:solidFill>
              </a:rPr>
              <a:t>ISO 9001:2026</a:t>
            </a:r>
            <a:endParaRPr lang="en-US" sz="1500" dirty="0"/>
          </a:p>
        </p:txBody>
      </p:sp>
      <p:sp>
        <p:nvSpPr>
          <p:cNvPr id="17" name="Text 15"/>
          <p:cNvSpPr txBox="1"/>
          <p:nvPr/>
        </p:nvSpPr>
        <p:spPr>
          <a:xfrm>
            <a:off x="1234440" y="3328416"/>
            <a:ext cx="3200400" cy="384048"/>
          </a:xfrm>
          <a:prstGeom prst="rect">
            <a:avLst/>
          </a:prstGeom>
          <a:noFill/>
          <a:ln/>
        </p:spPr>
        <p:txBody>
          <a:bodyPr wrap="square" lIns="0" tIns="0" rIns="0" bIns="0" rtlCol="0" anchor="t"/>
          <a:lstStyle/>
          <a:p>
            <a:pPr indent="0" marL="0">
              <a:buNone/>
            </a:pPr>
            <a:r>
              <a:rPr lang="en-US" sz="1200" dirty="0">
                <a:solidFill>
                  <a:srgbClr val="5B6B63"/>
                </a:solidFill>
              </a:rPr>
              <a:t>Published September 2026: stronger control of changes</a:t>
            </a:r>
            <a:endParaRPr lang="en-US" sz="1200" dirty="0"/>
          </a:p>
        </p:txBody>
      </p:sp>
      <p:sp>
        <p:nvSpPr>
          <p:cNvPr id="18" name="Shape 16"/>
          <p:cNvSpPr/>
          <p:nvPr/>
        </p:nvSpPr>
        <p:spPr>
          <a:xfrm>
            <a:off x="4846320" y="1005840"/>
            <a:ext cx="3931920" cy="2743200"/>
          </a:xfrm>
          <a:prstGeom prst="roundRect">
            <a:avLst>
              <a:gd name="adj" fmla="val 2667"/>
            </a:avLst>
          </a:prstGeom>
          <a:solidFill>
            <a:srgbClr val="1F4D3A"/>
          </a:solidFill>
          <a:ln w="12700">
            <a:solidFill>
              <a:srgbClr val="1F4D3A"/>
            </a:solidFill>
            <a:prstDash val="solid"/>
          </a:ln>
        </p:spPr>
      </p:sp>
      <p:sp>
        <p:nvSpPr>
          <p:cNvPr id="19" name="Text 17"/>
          <p:cNvSpPr txBox="1"/>
          <p:nvPr/>
        </p:nvSpPr>
        <p:spPr>
          <a:xfrm>
            <a:off x="5074920" y="1188720"/>
            <a:ext cx="3474720" cy="320040"/>
          </a:xfrm>
          <a:prstGeom prst="rect">
            <a:avLst/>
          </a:prstGeom>
          <a:noFill/>
          <a:ln/>
        </p:spPr>
        <p:txBody>
          <a:bodyPr wrap="square" lIns="0" tIns="0" rIns="0" bIns="0" rtlCol="0" anchor="t"/>
          <a:lstStyle/>
          <a:p>
            <a:pPr indent="0" marL="0">
              <a:buNone/>
            </a:pPr>
            <a:r>
              <a:rPr lang="en-US" sz="1400" b="1" dirty="0">
                <a:solidFill>
                  <a:srgbClr val="7FB069"/>
                </a:solidFill>
              </a:rPr>
              <a:t>The big lesson</a:t>
            </a:r>
            <a:endParaRPr lang="en-US" sz="1400" dirty="0"/>
          </a:p>
        </p:txBody>
      </p:sp>
      <p:sp>
        <p:nvSpPr>
          <p:cNvPr id="20" name="Text 18"/>
          <p:cNvSpPr txBox="1"/>
          <p:nvPr/>
        </p:nvSpPr>
        <p:spPr>
          <a:xfrm>
            <a:off x="5074920" y="1691640"/>
            <a:ext cx="3474720" cy="411480"/>
          </a:xfrm>
          <a:prstGeom prst="rect">
            <a:avLst/>
          </a:prstGeom>
          <a:noFill/>
          <a:ln/>
        </p:spPr>
        <p:txBody>
          <a:bodyPr wrap="square" lIns="0" tIns="0" rIns="0" bIns="0" rtlCol="0" anchor="t"/>
          <a:lstStyle/>
          <a:p>
            <a:pPr indent="0" marL="0">
              <a:buNone/>
            </a:pPr>
            <a:r>
              <a:rPr lang="en-US" sz="2000" strike="sngStrike" dirty="0">
                <a:solidFill>
                  <a:srgbClr val="CFE3D3"/>
                </a:solidFill>
              </a:rPr>
              <a:t>Inspect at the end</a:t>
            </a:r>
            <a:endParaRPr lang="en-US" sz="2000" dirty="0"/>
          </a:p>
        </p:txBody>
      </p:sp>
      <p:sp>
        <p:nvSpPr>
          <p:cNvPr id="21" name="Shape 19"/>
          <p:cNvSpPr/>
          <p:nvPr/>
        </p:nvSpPr>
        <p:spPr>
          <a:xfrm>
            <a:off x="6583680" y="2240280"/>
            <a:ext cx="365760" cy="457200"/>
          </a:xfrm>
          <a:prstGeom prst="downArrow">
            <a:avLst/>
          </a:prstGeom>
          <a:solidFill>
            <a:srgbClr val="E9A23B"/>
          </a:solidFill>
          <a:ln w="12700">
            <a:solidFill>
              <a:srgbClr val="E9A23B"/>
            </a:solidFill>
            <a:prstDash val="solid"/>
          </a:ln>
        </p:spPr>
      </p:sp>
      <p:sp>
        <p:nvSpPr>
          <p:cNvPr id="22" name="Text 20"/>
          <p:cNvSpPr txBox="1"/>
          <p:nvPr/>
        </p:nvSpPr>
        <p:spPr>
          <a:xfrm>
            <a:off x="5074920" y="2834640"/>
            <a:ext cx="3474720" cy="731520"/>
          </a:xfrm>
          <a:prstGeom prst="rect">
            <a:avLst/>
          </a:prstGeom>
          <a:noFill/>
          <a:ln/>
        </p:spPr>
        <p:txBody>
          <a:bodyPr wrap="square" lIns="0" tIns="0" rIns="0" bIns="0" rtlCol="0" anchor="t"/>
          <a:lstStyle/>
          <a:p>
            <a:pPr indent="0" marL="0">
              <a:buNone/>
            </a:pPr>
            <a:r>
              <a:rPr lang="en-US" sz="2000" b="1" dirty="0">
                <a:solidFill>
                  <a:srgbClr val="FFFFFF"/>
                </a:solidFill>
              </a:rPr>
              <a:t>Prevent during the whole process</a:t>
            </a:r>
            <a:endParaRPr lang="en-US" sz="2000" dirty="0"/>
          </a:p>
        </p:txBody>
      </p:sp>
      <p:sp>
        <p:nvSpPr>
          <p:cNvPr id="23" name="Text 21"/>
          <p:cNvSpPr txBox="1"/>
          <p:nvPr/>
        </p:nvSpPr>
        <p:spPr>
          <a:xfrm>
            <a:off x="365760" y="4069080"/>
            <a:ext cx="8412480" cy="365760"/>
          </a:xfrm>
          <a:prstGeom prst="rect">
            <a:avLst/>
          </a:prstGeom>
          <a:noFill/>
          <a:ln/>
        </p:spPr>
        <p:txBody>
          <a:bodyPr wrap="square" lIns="0" tIns="0" rIns="0" bIns="0" rtlCol="0" anchor="t"/>
          <a:lstStyle/>
          <a:p>
            <a:pPr indent="0" marL="0">
              <a:buNone/>
            </a:pPr>
            <a:r>
              <a:rPr lang="en-US" sz="1200" i="1" dirty="0">
                <a:solidFill>
                  <a:srgbClr val="2E7D57"/>
                </a:solidFill>
              </a:rPr>
              <a:t>ISO 9002 and ISO 9003 were withdrawn in 2000 and merged into ISO 9001.</a:t>
            </a:r>
            <a:endParaRPr lang="en-US" sz="1200" dirty="0"/>
          </a:p>
        </p:txBody>
      </p:sp>
      <p:sp>
        <p:nvSpPr>
          <p:cNvPr id="25" name="Slide Number Placeholder 0"/>
          <p:cNvSpPr>
            <a:spLocks noGrp="1"/>
          </p:cNvSpPr>
          <p:nvPr>
            <p:ph type="sldNum" sz="quarter" idx="4294967295"/>
          </p:nvPr>
        </p:nvSpPr>
        <p:spPr>
          <a:xfrm>
            <a:off x="8366760" y="481888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365760" y="182880"/>
            <a:ext cx="8412480" cy="594360"/>
          </a:xfrm>
          <a:prstGeom prst="rect">
            <a:avLst/>
          </a:prstGeom>
          <a:noFill/>
          <a:ln/>
        </p:spPr>
        <p:txBody>
          <a:bodyPr wrap="square" lIns="0" tIns="0" rIns="0" bIns="0" rtlCol="0" anchor="ctr"/>
          <a:lstStyle/>
          <a:p>
            <a:pPr algn="l" indent="0" marL="0">
              <a:buNone/>
            </a:pPr>
            <a:r>
              <a:rPr lang="en-US" sz="2400" b="1" dirty="0">
                <a:solidFill>
                  <a:srgbClr val="1F4D3A"/>
                </a:solidFill>
                <a:latin typeface="Cambria" pitchFamily="34" charset="0"/>
                <a:ea typeface="Cambria" pitchFamily="34" charset="-122"/>
                <a:cs typeface="Cambria" pitchFamily="34" charset="-120"/>
              </a:rPr>
              <a:t>Independent research: structure, companies and testing</a:t>
            </a:r>
            <a:endParaRPr lang="en-US" sz="2400" dirty="0"/>
          </a:p>
        </p:txBody>
      </p:sp>
      <p:sp>
        <p:nvSpPr>
          <p:cNvPr id="3" name="Shape 1"/>
          <p:cNvSpPr/>
          <p:nvPr/>
        </p:nvSpPr>
        <p:spPr>
          <a:xfrm>
            <a:off x="365760" y="960120"/>
            <a:ext cx="4114800" cy="2971800"/>
          </a:xfrm>
          <a:prstGeom prst="roundRect">
            <a:avLst>
              <a:gd name="adj" fmla="val 2462"/>
            </a:avLst>
          </a:prstGeom>
          <a:solidFill>
            <a:srgbClr val="EAF3E4"/>
          </a:solidFill>
          <a:ln w="12700">
            <a:solidFill>
              <a:srgbClr val="EAF3E4"/>
            </a:solidFill>
            <a:prstDash val="solid"/>
          </a:ln>
        </p:spPr>
      </p:sp>
      <p:sp>
        <p:nvSpPr>
          <p:cNvPr id="4" name="Text 2"/>
          <p:cNvSpPr txBox="1"/>
          <p:nvPr/>
        </p:nvSpPr>
        <p:spPr>
          <a:xfrm>
            <a:off x="548640" y="1097280"/>
            <a:ext cx="3749040" cy="320040"/>
          </a:xfrm>
          <a:prstGeom prst="rect">
            <a:avLst/>
          </a:prstGeom>
          <a:noFill/>
          <a:ln/>
        </p:spPr>
        <p:txBody>
          <a:bodyPr wrap="square" lIns="0" tIns="0" rIns="0" bIns="0" rtlCol="0" anchor="t"/>
          <a:lstStyle/>
          <a:p>
            <a:pPr indent="0" marL="0">
              <a:buNone/>
            </a:pPr>
            <a:r>
              <a:rPr lang="en-US" sz="1500" b="1" dirty="0">
                <a:solidFill>
                  <a:srgbClr val="1F4D3A"/>
                </a:solidFill>
              </a:rPr>
              <a:t>High-level structure (Annex SL)</a:t>
            </a:r>
            <a:endParaRPr lang="en-US" sz="1500" dirty="0"/>
          </a:p>
        </p:txBody>
      </p:sp>
      <p:sp>
        <p:nvSpPr>
          <p:cNvPr id="5" name="Shape 3"/>
          <p:cNvSpPr/>
          <p:nvPr/>
        </p:nvSpPr>
        <p:spPr>
          <a:xfrm>
            <a:off x="548640" y="1554480"/>
            <a:ext cx="310896" cy="310896"/>
          </a:xfrm>
          <a:prstGeom prst="ellipse">
            <a:avLst/>
          </a:prstGeom>
          <a:solidFill>
            <a:srgbClr val="2E7D57"/>
          </a:solidFill>
          <a:ln w="12700">
            <a:solidFill>
              <a:srgbClr val="2E7D57"/>
            </a:solidFill>
            <a:prstDash val="solid"/>
          </a:ln>
        </p:spPr>
      </p:sp>
      <p:sp>
        <p:nvSpPr>
          <p:cNvPr id="6" name="Text 4"/>
          <p:cNvSpPr txBox="1"/>
          <p:nvPr/>
        </p:nvSpPr>
        <p:spPr>
          <a:xfrm>
            <a:off x="548640" y="155448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7" name="Text 5"/>
          <p:cNvSpPr txBox="1"/>
          <p:nvPr/>
        </p:nvSpPr>
        <p:spPr>
          <a:xfrm>
            <a:off x="960120" y="1572768"/>
            <a:ext cx="3383280" cy="292608"/>
          </a:xfrm>
          <a:prstGeom prst="rect">
            <a:avLst/>
          </a:prstGeom>
          <a:noFill/>
          <a:ln/>
        </p:spPr>
        <p:txBody>
          <a:bodyPr wrap="square" lIns="0" tIns="0" rIns="0" bIns="0" rtlCol="0" anchor="ctr"/>
          <a:lstStyle/>
          <a:p>
            <a:pPr indent="0" marL="0">
              <a:buNone/>
            </a:pPr>
            <a:r>
              <a:rPr lang="en-US" sz="1300" dirty="0">
                <a:solidFill>
                  <a:srgbClr val="1E2A24"/>
                </a:solidFill>
              </a:rPr>
              <a:t>ISO 9001 · quality management</a:t>
            </a:r>
            <a:endParaRPr lang="en-US" sz="1300" dirty="0"/>
          </a:p>
        </p:txBody>
      </p:sp>
      <p:sp>
        <p:nvSpPr>
          <p:cNvPr id="8" name="Shape 6"/>
          <p:cNvSpPr/>
          <p:nvPr/>
        </p:nvSpPr>
        <p:spPr>
          <a:xfrm>
            <a:off x="548640" y="1993392"/>
            <a:ext cx="310896" cy="310896"/>
          </a:xfrm>
          <a:prstGeom prst="ellipse">
            <a:avLst/>
          </a:prstGeom>
          <a:solidFill>
            <a:srgbClr val="2E7D57"/>
          </a:solidFill>
          <a:ln w="12700">
            <a:solidFill>
              <a:srgbClr val="2E7D57"/>
            </a:solidFill>
            <a:prstDash val="solid"/>
          </a:ln>
        </p:spPr>
      </p:sp>
      <p:sp>
        <p:nvSpPr>
          <p:cNvPr id="9" name="Text 7"/>
          <p:cNvSpPr txBox="1"/>
          <p:nvPr/>
        </p:nvSpPr>
        <p:spPr>
          <a:xfrm>
            <a:off x="548640" y="19933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10" name="Text 8"/>
          <p:cNvSpPr txBox="1"/>
          <p:nvPr/>
        </p:nvSpPr>
        <p:spPr>
          <a:xfrm>
            <a:off x="960120" y="2011680"/>
            <a:ext cx="3383280" cy="292608"/>
          </a:xfrm>
          <a:prstGeom prst="rect">
            <a:avLst/>
          </a:prstGeom>
          <a:noFill/>
          <a:ln/>
        </p:spPr>
        <p:txBody>
          <a:bodyPr wrap="square" lIns="0" tIns="0" rIns="0" bIns="0" rtlCol="0" anchor="ctr"/>
          <a:lstStyle/>
          <a:p>
            <a:pPr indent="0" marL="0">
              <a:buNone/>
            </a:pPr>
            <a:r>
              <a:rPr lang="en-US" sz="1300" dirty="0">
                <a:solidFill>
                  <a:srgbClr val="1E2A24"/>
                </a:solidFill>
              </a:rPr>
              <a:t>ISO 14001 · environment</a:t>
            </a:r>
            <a:endParaRPr lang="en-US" sz="1300" dirty="0"/>
          </a:p>
        </p:txBody>
      </p:sp>
      <p:sp>
        <p:nvSpPr>
          <p:cNvPr id="11" name="Shape 9"/>
          <p:cNvSpPr/>
          <p:nvPr/>
        </p:nvSpPr>
        <p:spPr>
          <a:xfrm>
            <a:off x="548640" y="2432304"/>
            <a:ext cx="310896" cy="310896"/>
          </a:xfrm>
          <a:prstGeom prst="ellipse">
            <a:avLst/>
          </a:prstGeom>
          <a:solidFill>
            <a:srgbClr val="2E7D57"/>
          </a:solidFill>
          <a:ln w="12700">
            <a:solidFill>
              <a:srgbClr val="2E7D57"/>
            </a:solidFill>
            <a:prstDash val="solid"/>
          </a:ln>
        </p:spPr>
      </p:sp>
      <p:sp>
        <p:nvSpPr>
          <p:cNvPr id="12" name="Text 10"/>
          <p:cNvSpPr txBox="1"/>
          <p:nvPr/>
        </p:nvSpPr>
        <p:spPr>
          <a:xfrm>
            <a:off x="548640" y="24323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13" name="Text 11"/>
          <p:cNvSpPr txBox="1"/>
          <p:nvPr/>
        </p:nvSpPr>
        <p:spPr>
          <a:xfrm>
            <a:off x="960120" y="2450592"/>
            <a:ext cx="3383280" cy="292608"/>
          </a:xfrm>
          <a:prstGeom prst="rect">
            <a:avLst/>
          </a:prstGeom>
          <a:noFill/>
          <a:ln/>
        </p:spPr>
        <p:txBody>
          <a:bodyPr wrap="square" lIns="0" tIns="0" rIns="0" bIns="0" rtlCol="0" anchor="ctr"/>
          <a:lstStyle/>
          <a:p>
            <a:pPr indent="0" marL="0">
              <a:buNone/>
            </a:pPr>
            <a:r>
              <a:rPr lang="en-US" sz="1300" dirty="0">
                <a:solidFill>
                  <a:srgbClr val="1E2A24"/>
                </a:solidFill>
              </a:rPr>
              <a:t>ISO/IEC 27001 · information security</a:t>
            </a:r>
            <a:endParaRPr lang="en-US" sz="1300" dirty="0"/>
          </a:p>
        </p:txBody>
      </p:sp>
      <p:sp>
        <p:nvSpPr>
          <p:cNvPr id="14" name="Shape 12"/>
          <p:cNvSpPr/>
          <p:nvPr/>
        </p:nvSpPr>
        <p:spPr>
          <a:xfrm>
            <a:off x="548640" y="2871216"/>
            <a:ext cx="310896" cy="310896"/>
          </a:xfrm>
          <a:prstGeom prst="ellipse">
            <a:avLst/>
          </a:prstGeom>
          <a:solidFill>
            <a:srgbClr val="C62828"/>
          </a:solidFill>
          <a:ln w="12700">
            <a:solidFill>
              <a:srgbClr val="C62828"/>
            </a:solidFill>
            <a:prstDash val="solid"/>
          </a:ln>
        </p:spPr>
      </p:sp>
      <p:sp>
        <p:nvSpPr>
          <p:cNvPr id="15" name="Text 13"/>
          <p:cNvSpPr txBox="1"/>
          <p:nvPr/>
        </p:nvSpPr>
        <p:spPr>
          <a:xfrm>
            <a:off x="548640" y="287121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16" name="Text 14"/>
          <p:cNvSpPr txBox="1"/>
          <p:nvPr/>
        </p:nvSpPr>
        <p:spPr>
          <a:xfrm>
            <a:off x="960120" y="2889504"/>
            <a:ext cx="3383280" cy="292608"/>
          </a:xfrm>
          <a:prstGeom prst="rect">
            <a:avLst/>
          </a:prstGeom>
          <a:noFill/>
          <a:ln/>
        </p:spPr>
        <p:txBody>
          <a:bodyPr wrap="square" lIns="0" tIns="0" rIns="0" bIns="0" rtlCol="0" anchor="ctr"/>
          <a:lstStyle/>
          <a:p>
            <a:pPr indent="0" marL="0">
              <a:buNone/>
            </a:pPr>
            <a:r>
              <a:rPr lang="en-US" sz="1300" dirty="0">
                <a:solidFill>
                  <a:srgbClr val="1E2A24"/>
                </a:solidFill>
              </a:rPr>
              <a:t>ISO/IEC 25010 · product quality model</a:t>
            </a:r>
            <a:endParaRPr lang="en-US" sz="1300" dirty="0"/>
          </a:p>
        </p:txBody>
      </p:sp>
      <p:sp>
        <p:nvSpPr>
          <p:cNvPr id="17" name="Shape 15"/>
          <p:cNvSpPr/>
          <p:nvPr/>
        </p:nvSpPr>
        <p:spPr>
          <a:xfrm>
            <a:off x="548640" y="3310128"/>
            <a:ext cx="310896" cy="310896"/>
          </a:xfrm>
          <a:prstGeom prst="ellipse">
            <a:avLst/>
          </a:prstGeom>
          <a:solidFill>
            <a:srgbClr val="C62828"/>
          </a:solidFill>
          <a:ln w="12700">
            <a:solidFill>
              <a:srgbClr val="C62828"/>
            </a:solidFill>
            <a:prstDash val="solid"/>
          </a:ln>
        </p:spPr>
      </p:sp>
      <p:sp>
        <p:nvSpPr>
          <p:cNvPr id="18" name="Text 16"/>
          <p:cNvSpPr txBox="1"/>
          <p:nvPr/>
        </p:nvSpPr>
        <p:spPr>
          <a:xfrm>
            <a:off x="548640" y="331012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19" name="Text 17"/>
          <p:cNvSpPr txBox="1"/>
          <p:nvPr/>
        </p:nvSpPr>
        <p:spPr>
          <a:xfrm>
            <a:off x="960120" y="3328416"/>
            <a:ext cx="3383280" cy="292608"/>
          </a:xfrm>
          <a:prstGeom prst="rect">
            <a:avLst/>
          </a:prstGeom>
          <a:noFill/>
          <a:ln/>
        </p:spPr>
        <p:txBody>
          <a:bodyPr wrap="square" lIns="0" tIns="0" rIns="0" bIns="0" rtlCol="0" anchor="ctr"/>
          <a:lstStyle/>
          <a:p>
            <a:pPr indent="0" marL="0">
              <a:buNone/>
            </a:pPr>
            <a:r>
              <a:rPr lang="en-US" sz="1300" dirty="0">
                <a:solidFill>
                  <a:srgbClr val="1E2A24"/>
                </a:solidFill>
              </a:rPr>
              <a:t>ISO/IEC/IEEE 29119 · software testing</a:t>
            </a:r>
            <a:endParaRPr lang="en-US" sz="1300" dirty="0"/>
          </a:p>
        </p:txBody>
      </p:sp>
      <p:sp>
        <p:nvSpPr>
          <p:cNvPr id="20" name="Text 18"/>
          <p:cNvSpPr txBox="1"/>
          <p:nvPr/>
        </p:nvSpPr>
        <p:spPr>
          <a:xfrm>
            <a:off x="548640" y="3703320"/>
            <a:ext cx="3749040" cy="228600"/>
          </a:xfrm>
          <a:prstGeom prst="rect">
            <a:avLst/>
          </a:prstGeom>
          <a:noFill/>
          <a:ln/>
        </p:spPr>
        <p:txBody>
          <a:bodyPr wrap="square" lIns="0" tIns="0" rIns="0" bIns="0" rtlCol="0" anchor="t"/>
          <a:lstStyle/>
          <a:p>
            <a:pPr indent="0" marL="0">
              <a:buNone/>
            </a:pPr>
            <a:r>
              <a:rPr lang="en-US" sz="1100" i="1" dirty="0">
                <a:solidFill>
                  <a:srgbClr val="5B6B63"/>
                </a:solidFill>
              </a:rPr>
              <a:t>Only management system standards follow it.</a:t>
            </a:r>
            <a:endParaRPr lang="en-US" sz="1100" dirty="0"/>
          </a:p>
        </p:txBody>
      </p:sp>
      <p:sp>
        <p:nvSpPr>
          <p:cNvPr id="21" name="Shape 19"/>
          <p:cNvSpPr/>
          <p:nvPr/>
        </p:nvSpPr>
        <p:spPr>
          <a:xfrm>
            <a:off x="4663440" y="960120"/>
            <a:ext cx="4114800" cy="2011680"/>
          </a:xfrm>
          <a:prstGeom prst="roundRect">
            <a:avLst>
              <a:gd name="adj" fmla="val 3636"/>
            </a:avLst>
          </a:prstGeom>
          <a:solidFill>
            <a:srgbClr val="1F4D3A"/>
          </a:solidFill>
          <a:ln w="12700">
            <a:solidFill>
              <a:srgbClr val="1F4D3A"/>
            </a:solidFill>
            <a:prstDash val="solid"/>
          </a:ln>
        </p:spPr>
      </p:sp>
      <p:sp>
        <p:nvSpPr>
          <p:cNvPr id="22" name="Text 20"/>
          <p:cNvSpPr txBox="1"/>
          <p:nvPr/>
        </p:nvSpPr>
        <p:spPr>
          <a:xfrm>
            <a:off x="4846320" y="1097280"/>
            <a:ext cx="3749040" cy="320040"/>
          </a:xfrm>
          <a:prstGeom prst="rect">
            <a:avLst/>
          </a:prstGeom>
          <a:noFill/>
          <a:ln/>
        </p:spPr>
        <p:txBody>
          <a:bodyPr wrap="square" lIns="0" tIns="0" rIns="0" bIns="0" rtlCol="0" anchor="t"/>
          <a:lstStyle/>
          <a:p>
            <a:pPr indent="0" marL="0">
              <a:buNone/>
            </a:pPr>
            <a:r>
              <a:rPr lang="en-US" sz="1500" b="1" dirty="0">
                <a:solidFill>
                  <a:srgbClr val="7FB069"/>
                </a:solidFill>
              </a:rPr>
              <a:t>CMMI level 5 in Colombia</a:t>
            </a:r>
            <a:endParaRPr lang="en-US" sz="1500" dirty="0"/>
          </a:p>
        </p:txBody>
      </p:sp>
      <p:sp>
        <p:nvSpPr>
          <p:cNvPr id="23" name="Text 21"/>
          <p:cNvSpPr txBox="1"/>
          <p:nvPr/>
        </p:nvSpPr>
        <p:spPr>
          <a:xfrm>
            <a:off x="4846320" y="1508760"/>
            <a:ext cx="3749040" cy="1280160"/>
          </a:xfrm>
          <a:prstGeom prst="rect">
            <a:avLst/>
          </a:prstGeom>
          <a:noFill/>
          <a:ln/>
        </p:spPr>
        <p:txBody>
          <a:bodyPr wrap="square" lIns="0" tIns="0" rIns="0" bIns="0" rtlCol="0" anchor="t"/>
          <a:lstStyle/>
          <a:p>
            <a:pPr indent="0" marL="0">
              <a:spcAft>
                <a:spcPts val="600"/>
              </a:spcAft>
              <a:buNone/>
            </a:pPr>
            <a:r>
              <a:rPr lang="en-US" sz="1300" dirty="0">
                <a:solidFill>
                  <a:srgbClr val="FFFFFF"/>
                </a:solidFill>
              </a:rPr>
              <a:t>Perficient Latin America (formerly PSL), Medellín</a:t>
            </a:r>
            <a:endParaRPr lang="en-US" sz="1300" dirty="0"/>
          </a:p>
          <a:p>
            <a:pPr indent="0" marL="0">
              <a:spcAft>
                <a:spcPts val="600"/>
              </a:spcAft>
              <a:buNone/>
            </a:pPr>
            <a:r>
              <a:rPr lang="en-US" sz="1300" dirty="0">
                <a:solidFill>
                  <a:srgbClr val="FFFFFF"/>
                </a:solidFill>
              </a:rPr>
              <a:t>Heinsohn Business Technology, Bogotá</a:t>
            </a:r>
            <a:endParaRPr lang="en-US" sz="1300" dirty="0"/>
          </a:p>
          <a:p>
            <a:pPr indent="0" marL="0">
              <a:spcAft>
                <a:spcPts val="600"/>
              </a:spcAft>
              <a:buNone/>
            </a:pPr>
            <a:r>
              <a:rPr lang="en-US" sz="1300" dirty="0">
                <a:solidFill>
                  <a:srgbClr val="FFFFFF"/>
                </a:solidFill>
              </a:rPr>
              <a:t>Minsait, an Indra company</a:t>
            </a:r>
            <a:endParaRPr lang="en-US" sz="1300" dirty="0"/>
          </a:p>
        </p:txBody>
      </p:sp>
      <p:sp>
        <p:nvSpPr>
          <p:cNvPr id="24" name="Shape 22"/>
          <p:cNvSpPr/>
          <p:nvPr/>
        </p:nvSpPr>
        <p:spPr>
          <a:xfrm>
            <a:off x="4663440" y="3154680"/>
            <a:ext cx="4114800" cy="777240"/>
          </a:xfrm>
          <a:prstGeom prst="roundRect">
            <a:avLst>
              <a:gd name="adj" fmla="val 9412"/>
            </a:avLst>
          </a:prstGeom>
          <a:solidFill>
            <a:srgbClr val="FBEBD2"/>
          </a:solidFill>
          <a:ln w="12700">
            <a:solidFill>
              <a:srgbClr val="FBEBD2"/>
            </a:solidFill>
            <a:prstDash val="solid"/>
          </a:ln>
        </p:spPr>
      </p:sp>
      <p:sp>
        <p:nvSpPr>
          <p:cNvPr id="25" name="Text 23"/>
          <p:cNvSpPr txBox="1"/>
          <p:nvPr/>
        </p:nvSpPr>
        <p:spPr>
          <a:xfrm>
            <a:off x="4846320" y="3227832"/>
            <a:ext cx="3749040" cy="640080"/>
          </a:xfrm>
          <a:prstGeom prst="rect">
            <a:avLst/>
          </a:prstGeom>
          <a:noFill/>
          <a:ln/>
        </p:spPr>
        <p:txBody>
          <a:bodyPr wrap="square" lIns="0" tIns="0" rIns="0" bIns="0" rtlCol="0" anchor="ctr"/>
          <a:lstStyle/>
          <a:p>
            <a:pPr indent="0" marL="0">
              <a:buNone/>
            </a:pPr>
            <a:r>
              <a:rPr lang="en-US" sz="1400" b="1" dirty="0">
                <a:solidFill>
                  <a:srgbClr val="1F4D3A"/>
                </a:solidFill>
              </a:rPr>
              <a:t>Certifications require evidence.</a:t>
            </a:r>
            <a:endParaRPr lang="en-US" sz="1400" dirty="0"/>
          </a:p>
          <a:p>
            <a:pPr indent="0" marL="0">
              <a:buNone/>
            </a:pPr>
            <a:r>
              <a:rPr lang="en-US" sz="1400" b="1" dirty="0">
                <a:solidFill>
                  <a:srgbClr val="1F4D3A"/>
                </a:solidFill>
              </a:rPr>
              <a:t>Testing produces that evidence.</a:t>
            </a:r>
            <a:endParaRPr lang="en-US" sz="1400" dirty="0"/>
          </a:p>
        </p:txBody>
      </p:sp>
      <p:sp>
        <p:nvSpPr>
          <p:cNvPr id="25" name="Slide Number Placeholder 0"/>
          <p:cNvSpPr>
            <a:spLocks noGrp="1"/>
          </p:cNvSpPr>
          <p:nvPr>
            <p:ph type="sldNum" sz="quarter" idx="4294967295"/>
          </p:nvPr>
        </p:nvSpPr>
        <p:spPr>
          <a:xfrm>
            <a:off x="8366760" y="481888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365760" y="182880"/>
            <a:ext cx="8412480" cy="594360"/>
          </a:xfrm>
          <a:prstGeom prst="rect">
            <a:avLst/>
          </a:prstGeom>
          <a:noFill/>
          <a:ln/>
        </p:spPr>
        <p:txBody>
          <a:bodyPr wrap="square" lIns="0" tIns="0" rIns="0" bIns="0" rtlCol="0" anchor="ctr"/>
          <a:lstStyle/>
          <a:p>
            <a:pPr algn="l" indent="0" marL="0">
              <a:buNone/>
            </a:pPr>
            <a:r>
              <a:rPr lang="en-US" sz="2400" b="1" dirty="0">
                <a:solidFill>
                  <a:srgbClr val="1F4D3A"/>
                </a:solidFill>
                <a:latin typeface="Cambria" pitchFamily="34" charset="0"/>
                <a:ea typeface="Cambria" pitchFamily="34" charset="-122"/>
                <a:cs typeface="Cambria" pitchFamily="34" charset="-120"/>
              </a:rPr>
              <a:t>Session 1: every change follows six steps</a:t>
            </a:r>
            <a:endParaRPr lang="en-US" sz="2400" dirty="0"/>
          </a:p>
        </p:txBody>
      </p:sp>
      <p:sp>
        <p:nvSpPr>
          <p:cNvPr id="3" name="Shape 1"/>
          <p:cNvSpPr/>
          <p:nvPr/>
        </p:nvSpPr>
        <p:spPr>
          <a:xfrm>
            <a:off x="365760" y="896112"/>
            <a:ext cx="1298448" cy="292608"/>
          </a:xfrm>
          <a:prstGeom prst="roundRect">
            <a:avLst>
              <a:gd name="adj" fmla="val 18750"/>
            </a:avLst>
          </a:prstGeom>
          <a:solidFill>
            <a:srgbClr val="1F4D3A"/>
          </a:solidFill>
          <a:ln w="12700">
            <a:solidFill>
              <a:srgbClr val="1F4D3A"/>
            </a:solidFill>
            <a:prstDash val="solid"/>
          </a:ln>
        </p:spPr>
      </p:sp>
      <p:sp>
        <p:nvSpPr>
          <p:cNvPr id="4" name="Text 2"/>
          <p:cNvSpPr txBox="1"/>
          <p:nvPr/>
        </p:nvSpPr>
        <p:spPr>
          <a:xfrm>
            <a:off x="365760" y="896112"/>
            <a:ext cx="1298448" cy="292608"/>
          </a:xfrm>
          <a:prstGeom prst="rect">
            <a:avLst/>
          </a:prstGeom>
          <a:noFill/>
          <a:ln/>
        </p:spPr>
        <p:txBody>
          <a:bodyPr wrap="square" lIns="0" tIns="0" rIns="0" bIns="0" rtlCol="0" anchor="ctr"/>
          <a:lstStyle/>
          <a:p>
            <a:pPr algn="ctr" indent="0" marL="0">
              <a:buNone/>
            </a:pPr>
            <a:r>
              <a:rPr lang="en-US" sz="1100" b="1" dirty="0">
                <a:solidFill>
                  <a:srgbClr val="FFFFFF"/>
                </a:solidFill>
              </a:rPr>
              <a:t>1. Issue</a:t>
            </a:r>
            <a:endParaRPr lang="en-US" sz="1100" dirty="0"/>
          </a:p>
        </p:txBody>
      </p:sp>
      <p:sp>
        <p:nvSpPr>
          <p:cNvPr id="5" name="Shape 3"/>
          <p:cNvSpPr/>
          <p:nvPr/>
        </p:nvSpPr>
        <p:spPr>
          <a:xfrm>
            <a:off x="1783080" y="896112"/>
            <a:ext cx="1298448" cy="292608"/>
          </a:xfrm>
          <a:prstGeom prst="roundRect">
            <a:avLst>
              <a:gd name="adj" fmla="val 18750"/>
            </a:avLst>
          </a:prstGeom>
          <a:solidFill>
            <a:srgbClr val="1F4D3A"/>
          </a:solidFill>
          <a:ln w="12700">
            <a:solidFill>
              <a:srgbClr val="1F4D3A"/>
            </a:solidFill>
            <a:prstDash val="solid"/>
          </a:ln>
        </p:spPr>
      </p:sp>
      <p:sp>
        <p:nvSpPr>
          <p:cNvPr id="6" name="Text 4"/>
          <p:cNvSpPr txBox="1"/>
          <p:nvPr/>
        </p:nvSpPr>
        <p:spPr>
          <a:xfrm>
            <a:off x="1783080" y="896112"/>
            <a:ext cx="1298448" cy="292608"/>
          </a:xfrm>
          <a:prstGeom prst="rect">
            <a:avLst/>
          </a:prstGeom>
          <a:noFill/>
          <a:ln/>
        </p:spPr>
        <p:txBody>
          <a:bodyPr wrap="square" lIns="0" tIns="0" rIns="0" bIns="0" rtlCol="0" anchor="ctr"/>
          <a:lstStyle/>
          <a:p>
            <a:pPr algn="ctr" indent="0" marL="0">
              <a:buNone/>
            </a:pPr>
            <a:r>
              <a:rPr lang="en-US" sz="1100" b="1" dirty="0">
                <a:solidFill>
                  <a:srgbClr val="FFFFFF"/>
                </a:solidFill>
              </a:rPr>
              <a:t>2. Branch</a:t>
            </a:r>
            <a:endParaRPr lang="en-US" sz="1100" dirty="0"/>
          </a:p>
        </p:txBody>
      </p:sp>
      <p:sp>
        <p:nvSpPr>
          <p:cNvPr id="7" name="Shape 5"/>
          <p:cNvSpPr/>
          <p:nvPr/>
        </p:nvSpPr>
        <p:spPr>
          <a:xfrm>
            <a:off x="3200400" y="896112"/>
            <a:ext cx="1298448" cy="292608"/>
          </a:xfrm>
          <a:prstGeom prst="roundRect">
            <a:avLst>
              <a:gd name="adj" fmla="val 18750"/>
            </a:avLst>
          </a:prstGeom>
          <a:solidFill>
            <a:srgbClr val="1F4D3A"/>
          </a:solidFill>
          <a:ln w="12700">
            <a:solidFill>
              <a:srgbClr val="1F4D3A"/>
            </a:solidFill>
            <a:prstDash val="solid"/>
          </a:ln>
        </p:spPr>
      </p:sp>
      <p:sp>
        <p:nvSpPr>
          <p:cNvPr id="8" name="Text 6"/>
          <p:cNvSpPr txBox="1"/>
          <p:nvPr/>
        </p:nvSpPr>
        <p:spPr>
          <a:xfrm>
            <a:off x="3200400" y="896112"/>
            <a:ext cx="1298448" cy="292608"/>
          </a:xfrm>
          <a:prstGeom prst="rect">
            <a:avLst/>
          </a:prstGeom>
          <a:noFill/>
          <a:ln/>
        </p:spPr>
        <p:txBody>
          <a:bodyPr wrap="square" lIns="0" tIns="0" rIns="0" bIns="0" rtlCol="0" anchor="ctr"/>
          <a:lstStyle/>
          <a:p>
            <a:pPr algn="ctr" indent="0" marL="0">
              <a:buNone/>
            </a:pPr>
            <a:r>
              <a:rPr lang="en-US" sz="1100" b="1" dirty="0">
                <a:solidFill>
                  <a:srgbClr val="FFFFFF"/>
                </a:solidFill>
              </a:rPr>
              <a:t>3. Commits</a:t>
            </a:r>
            <a:endParaRPr lang="en-US" sz="1100" dirty="0"/>
          </a:p>
        </p:txBody>
      </p:sp>
      <p:sp>
        <p:nvSpPr>
          <p:cNvPr id="9" name="Shape 7"/>
          <p:cNvSpPr/>
          <p:nvPr/>
        </p:nvSpPr>
        <p:spPr>
          <a:xfrm>
            <a:off x="4617720" y="896112"/>
            <a:ext cx="1298448" cy="292608"/>
          </a:xfrm>
          <a:prstGeom prst="roundRect">
            <a:avLst>
              <a:gd name="adj" fmla="val 18750"/>
            </a:avLst>
          </a:prstGeom>
          <a:solidFill>
            <a:srgbClr val="1F4D3A"/>
          </a:solidFill>
          <a:ln w="12700">
            <a:solidFill>
              <a:srgbClr val="1F4D3A"/>
            </a:solidFill>
            <a:prstDash val="solid"/>
          </a:ln>
        </p:spPr>
      </p:sp>
      <p:sp>
        <p:nvSpPr>
          <p:cNvPr id="10" name="Text 8"/>
          <p:cNvSpPr txBox="1"/>
          <p:nvPr/>
        </p:nvSpPr>
        <p:spPr>
          <a:xfrm>
            <a:off x="4617720" y="896112"/>
            <a:ext cx="1298448" cy="292608"/>
          </a:xfrm>
          <a:prstGeom prst="rect">
            <a:avLst/>
          </a:prstGeom>
          <a:noFill/>
          <a:ln/>
        </p:spPr>
        <p:txBody>
          <a:bodyPr wrap="square" lIns="0" tIns="0" rIns="0" bIns="0" rtlCol="0" anchor="ctr"/>
          <a:lstStyle/>
          <a:p>
            <a:pPr algn="ctr" indent="0" marL="0">
              <a:buNone/>
            </a:pPr>
            <a:r>
              <a:rPr lang="en-US" sz="1100" b="1" dirty="0">
                <a:solidFill>
                  <a:srgbClr val="FFFFFF"/>
                </a:solidFill>
              </a:rPr>
              <a:t>4. Pull request</a:t>
            </a:r>
            <a:endParaRPr lang="en-US" sz="1100" dirty="0"/>
          </a:p>
        </p:txBody>
      </p:sp>
      <p:sp>
        <p:nvSpPr>
          <p:cNvPr id="11" name="Shape 9"/>
          <p:cNvSpPr/>
          <p:nvPr/>
        </p:nvSpPr>
        <p:spPr>
          <a:xfrm>
            <a:off x="6035040" y="896112"/>
            <a:ext cx="1298448" cy="292608"/>
          </a:xfrm>
          <a:prstGeom prst="roundRect">
            <a:avLst>
              <a:gd name="adj" fmla="val 18750"/>
            </a:avLst>
          </a:prstGeom>
          <a:solidFill>
            <a:srgbClr val="E9A23B"/>
          </a:solidFill>
          <a:ln w="12700">
            <a:solidFill>
              <a:srgbClr val="E9A23B"/>
            </a:solidFill>
            <a:prstDash val="solid"/>
          </a:ln>
        </p:spPr>
      </p:sp>
      <p:sp>
        <p:nvSpPr>
          <p:cNvPr id="12" name="Text 10"/>
          <p:cNvSpPr txBox="1"/>
          <p:nvPr/>
        </p:nvSpPr>
        <p:spPr>
          <a:xfrm>
            <a:off x="6035040" y="896112"/>
            <a:ext cx="1298448" cy="292608"/>
          </a:xfrm>
          <a:prstGeom prst="rect">
            <a:avLst/>
          </a:prstGeom>
          <a:noFill/>
          <a:ln/>
        </p:spPr>
        <p:txBody>
          <a:bodyPr wrap="square" lIns="0" tIns="0" rIns="0" bIns="0" rtlCol="0" anchor="ctr"/>
          <a:lstStyle/>
          <a:p>
            <a:pPr algn="ctr" indent="0" marL="0">
              <a:buNone/>
            </a:pPr>
            <a:r>
              <a:rPr lang="en-US" sz="1100" b="1" dirty="0">
                <a:solidFill>
                  <a:srgbClr val="1F4D3A"/>
                </a:solidFill>
              </a:rPr>
              <a:t>5. Tests + review</a:t>
            </a:r>
            <a:endParaRPr lang="en-US" sz="1100" dirty="0"/>
          </a:p>
        </p:txBody>
      </p:sp>
      <p:sp>
        <p:nvSpPr>
          <p:cNvPr id="13" name="Shape 11"/>
          <p:cNvSpPr/>
          <p:nvPr/>
        </p:nvSpPr>
        <p:spPr>
          <a:xfrm>
            <a:off x="7452360" y="896112"/>
            <a:ext cx="1298448" cy="292608"/>
          </a:xfrm>
          <a:prstGeom prst="roundRect">
            <a:avLst>
              <a:gd name="adj" fmla="val 18750"/>
            </a:avLst>
          </a:prstGeom>
          <a:solidFill>
            <a:srgbClr val="1F4D3A"/>
          </a:solidFill>
          <a:ln w="12700">
            <a:solidFill>
              <a:srgbClr val="1F4D3A"/>
            </a:solidFill>
            <a:prstDash val="solid"/>
          </a:ln>
        </p:spPr>
      </p:sp>
      <p:sp>
        <p:nvSpPr>
          <p:cNvPr id="14" name="Text 12"/>
          <p:cNvSpPr txBox="1"/>
          <p:nvPr/>
        </p:nvSpPr>
        <p:spPr>
          <a:xfrm>
            <a:off x="7452360" y="896112"/>
            <a:ext cx="1298448" cy="292608"/>
          </a:xfrm>
          <a:prstGeom prst="rect">
            <a:avLst/>
          </a:prstGeom>
          <a:noFill/>
          <a:ln/>
        </p:spPr>
        <p:txBody>
          <a:bodyPr wrap="square" lIns="0" tIns="0" rIns="0" bIns="0" rtlCol="0" anchor="ctr"/>
          <a:lstStyle/>
          <a:p>
            <a:pPr algn="ctr" indent="0" marL="0">
              <a:buNone/>
            </a:pPr>
            <a:r>
              <a:rPr lang="en-US" sz="1100" b="1" dirty="0">
                <a:solidFill>
                  <a:srgbClr val="FFFFFF"/>
                </a:solidFill>
              </a:rPr>
              <a:t>6. Merge</a:t>
            </a:r>
            <a:endParaRPr lang="en-US" sz="1100" dirty="0"/>
          </a:p>
        </p:txBody>
      </p:sp>
      <p:pic>
        <p:nvPicPr>
          <p:cNvPr id="15" name="Image 0" descr="Pull requests on GitHub">    </p:cNvPr>
          <p:cNvPicPr>
            <a:picLocks noChangeAspect="1"/>
          </p:cNvPicPr>
          <p:nvPr/>
        </p:nvPicPr>
        <p:blipFill>
          <a:blip r:embed="rId1"/>
          <a:stretch>
            <a:fillRect/>
          </a:stretch>
        </p:blipFill>
        <p:spPr>
          <a:xfrm>
            <a:off x="472587" y="1325880"/>
            <a:ext cx="3626827" cy="3429000"/>
          </a:xfrm>
          <a:prstGeom prst="rect">
            <a:avLst/>
          </a:prstGeom>
        </p:spPr>
      </p:pic>
      <p:sp>
        <p:nvSpPr>
          <p:cNvPr id="16" name="Shape 13"/>
          <p:cNvSpPr/>
          <p:nvPr/>
        </p:nvSpPr>
        <p:spPr>
          <a:xfrm>
            <a:off x="472587" y="1325880"/>
            <a:ext cx="3626827" cy="3429000"/>
          </a:xfrm>
          <a:prstGeom prst="rect">
            <a:avLst/>
          </a:prstGeom>
          <a:solidFill>
            <a:srgbClr val="FFFFFF">
              <a:alpha val="0"/>
            </a:srgbClr>
          </a:solidFill>
          <a:ln w="9525">
            <a:solidFill>
              <a:srgbClr val="BFC8C2"/>
            </a:solidFill>
            <a:prstDash val="solid"/>
          </a:ln>
        </p:spPr>
      </p:sp>
      <p:pic>
        <p:nvPicPr>
          <p:cNvPr id="17" name="Image 1" descr="Branch network graph">    </p:cNvPr>
          <p:cNvPicPr>
            <a:picLocks noChangeAspect="1"/>
          </p:cNvPicPr>
          <p:nvPr/>
        </p:nvPicPr>
        <p:blipFill>
          <a:blip r:embed="rId2"/>
          <a:stretch>
            <a:fillRect/>
          </a:stretch>
        </p:blipFill>
        <p:spPr>
          <a:xfrm>
            <a:off x="4389120" y="1341120"/>
            <a:ext cx="4389120" cy="2346960"/>
          </a:xfrm>
          <a:prstGeom prst="rect">
            <a:avLst/>
          </a:prstGeom>
        </p:spPr>
      </p:pic>
      <p:sp>
        <p:nvSpPr>
          <p:cNvPr id="18" name="Shape 14"/>
          <p:cNvSpPr/>
          <p:nvPr/>
        </p:nvSpPr>
        <p:spPr>
          <a:xfrm>
            <a:off x="4389120" y="1341120"/>
            <a:ext cx="4389120" cy="2346960"/>
          </a:xfrm>
          <a:prstGeom prst="rect">
            <a:avLst/>
          </a:prstGeom>
          <a:solidFill>
            <a:srgbClr val="FFFFFF">
              <a:alpha val="0"/>
            </a:srgbClr>
          </a:solidFill>
          <a:ln w="9525">
            <a:solidFill>
              <a:srgbClr val="BFC8C2"/>
            </a:solidFill>
            <a:prstDash val="solid"/>
          </a:ln>
        </p:spPr>
      </p:sp>
      <p:sp>
        <p:nvSpPr>
          <p:cNvPr id="19" name="Text 15"/>
          <p:cNvSpPr txBox="1"/>
          <p:nvPr/>
        </p:nvSpPr>
        <p:spPr>
          <a:xfrm>
            <a:off x="4389120" y="3886200"/>
            <a:ext cx="4389120" cy="731520"/>
          </a:xfrm>
          <a:prstGeom prst="rect">
            <a:avLst/>
          </a:prstGeom>
          <a:noFill/>
          <a:ln/>
        </p:spPr>
        <p:txBody>
          <a:bodyPr wrap="square" lIns="0" tIns="0" rIns="0" bIns="0" rtlCol="0" anchor="t"/>
          <a:lstStyle/>
          <a:p>
            <a:pPr indent="0" marL="0">
              <a:buNone/>
            </a:pPr>
            <a:r>
              <a:rPr lang="en-US" sz="1300" dirty="0">
                <a:solidFill>
                  <a:srgbClr val="5B6B63"/>
                </a:solidFill>
              </a:rPr>
              <a:t>Pull requests (left) and branch graph (right): every branch returns to main through a pull request.</a:t>
            </a:r>
            <a:endParaRPr lang="en-US" sz="1300" dirty="0"/>
          </a:p>
        </p:txBody>
      </p:sp>
      <p:sp>
        <p:nvSpPr>
          <p:cNvPr id="25" name="Slide Number Placeholder 0"/>
          <p:cNvSpPr>
            <a:spLocks noGrp="1"/>
          </p:cNvSpPr>
          <p:nvPr>
            <p:ph type="sldNum" sz="quarter" idx="4294967295"/>
          </p:nvPr>
        </p:nvSpPr>
        <p:spPr>
          <a:xfrm>
            <a:off x="8366760" y="481888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365760" y="182880"/>
            <a:ext cx="8412480" cy="594360"/>
          </a:xfrm>
          <a:prstGeom prst="rect">
            <a:avLst/>
          </a:prstGeom>
          <a:noFill/>
          <a:ln/>
        </p:spPr>
        <p:txBody>
          <a:bodyPr wrap="square" lIns="0" tIns="0" rIns="0" bIns="0" rtlCol="0" anchor="ctr"/>
          <a:lstStyle/>
          <a:p>
            <a:pPr algn="l" indent="0" marL="0">
              <a:buNone/>
            </a:pPr>
            <a:r>
              <a:rPr lang="en-US" sz="2400" b="1" dirty="0">
                <a:solidFill>
                  <a:srgbClr val="1F4D3A"/>
                </a:solidFill>
                <a:latin typeface="Cambria" pitchFamily="34" charset="0"/>
                <a:ea typeface="Cambria" pitchFamily="34" charset="-122"/>
                <a:cs typeface="Cambria" pitchFamily="34" charset="-120"/>
              </a:rPr>
              <a:t>A real merge conflict, solved by hand</a:t>
            </a:r>
            <a:endParaRPr lang="en-US" sz="2400" dirty="0"/>
          </a:p>
        </p:txBody>
      </p:sp>
      <p:sp>
        <p:nvSpPr>
          <p:cNvPr id="3" name="Shape 1"/>
          <p:cNvSpPr/>
          <p:nvPr/>
        </p:nvSpPr>
        <p:spPr>
          <a:xfrm>
            <a:off x="365760" y="960120"/>
            <a:ext cx="3931920" cy="2148840"/>
          </a:xfrm>
          <a:prstGeom prst="rect">
            <a:avLst/>
          </a:prstGeom>
          <a:solidFill>
            <a:srgbClr val="1E1E1E"/>
          </a:solidFill>
          <a:ln w="12700">
            <a:solidFill>
              <a:srgbClr val="1E1E1E"/>
            </a:solidFill>
            <a:prstDash val="solid"/>
          </a:ln>
        </p:spPr>
      </p:sp>
      <p:sp>
        <p:nvSpPr>
          <p:cNvPr id="4" name="Text 2"/>
          <p:cNvSpPr txBox="1"/>
          <p:nvPr/>
        </p:nvSpPr>
        <p:spPr>
          <a:xfrm>
            <a:off x="502920" y="1051560"/>
            <a:ext cx="3703320" cy="1965960"/>
          </a:xfrm>
          <a:prstGeom prst="rect">
            <a:avLst/>
          </a:prstGeom>
          <a:noFill/>
          <a:ln/>
        </p:spPr>
        <p:txBody>
          <a:bodyPr wrap="square" lIns="0" tIns="0" rIns="0" bIns="0" rtlCol="0" anchor="t"/>
          <a:lstStyle/>
          <a:p>
            <a:pPr indent="0" marL="0">
              <a:buNone/>
            </a:pPr>
            <a:r>
              <a:rPr lang="en-US" sz="1100" dirty="0">
                <a:solidFill>
                  <a:srgbClr val="F48771"/>
                </a:solidFill>
                <a:latin typeface="Consolas" pitchFamily="34" charset="0"/>
                <a:ea typeface="Consolas" pitchFamily="34" charset="-122"/>
                <a:cs typeface="Consolas" pitchFamily="34" charset="-120"/>
              </a:rPr>
              <a:t>CONFLICT (content): Merge conflict in README.md</a:t>
            </a:r>
            <a:endParaRPr lang="en-US" sz="1100" dirty="0"/>
          </a:p>
          <a:p>
            <a:pPr indent="0" marL="0">
              <a:buNone/>
            </a:pPr>
            <a:r>
              <a:rPr lang="en-US" sz="1100" dirty="0">
                <a:solidFill>
                  <a:srgbClr val="9CDCFE"/>
                </a:solidFill>
                <a:latin typeface="Consolas" pitchFamily="34" charset="0"/>
                <a:ea typeface="Consolas" pitchFamily="34" charset="-122"/>
                <a:cs typeface="Consolas" pitchFamily="34" charset="-120"/>
              </a:rPr>
              <a:t>&lt;&lt;&lt;&lt;&lt;&lt;&lt; HEAD</a:t>
            </a:r>
            <a:endParaRPr lang="en-US" sz="1100" dirty="0"/>
          </a:p>
          <a:p>
            <a:pPr indent="0" marL="0">
              <a:buNone/>
            </a:pPr>
            <a:r>
              <a:rPr lang="en-US" sz="1100" dirty="0">
                <a:solidFill>
                  <a:srgbClr val="D4D4D4"/>
                </a:solidFill>
                <a:latin typeface="Consolas" pitchFamily="34" charset="0"/>
                <a:ea typeface="Consolas" pitchFamily="34" charset="-122"/>
                <a:cs typeface="Consolas" pitchFamily="34" charset="-120"/>
              </a:rPr>
              <a:t># EcoRecicla - Plataforma de reciclaje</a:t>
            </a:r>
            <a:endParaRPr lang="en-US" sz="1100" dirty="0"/>
          </a:p>
          <a:p>
            <a:pPr indent="0" marL="0">
              <a:buNone/>
            </a:pPr>
            <a:r>
              <a:rPr lang="en-US" sz="1100" dirty="0">
                <a:solidFill>
                  <a:srgbClr val="D4D4D4"/>
                </a:solidFill>
                <a:latin typeface="Consolas" pitchFamily="34" charset="0"/>
                <a:ea typeface="Consolas" pitchFamily="34" charset="-122"/>
                <a:cs typeface="Consolas" pitchFamily="34" charset="-120"/>
              </a:rPr>
              <a:t>  urbano con pruebas automatizadas</a:t>
            </a:r>
            <a:endParaRPr lang="en-US" sz="1100" dirty="0"/>
          </a:p>
          <a:p>
            <a:pPr indent="0" marL="0">
              <a:buNone/>
            </a:pPr>
            <a:r>
              <a:rPr lang="en-US" sz="1100" dirty="0">
                <a:solidFill>
                  <a:srgbClr val="9CDCFE"/>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D4D4D4"/>
                </a:solidFill>
                <a:latin typeface="Consolas" pitchFamily="34" charset="0"/>
                <a:ea typeface="Consolas" pitchFamily="34" charset="-122"/>
                <a:cs typeface="Consolas" pitchFamily="34" charset="-120"/>
              </a:rPr>
              <a:t># EcoRecicla v1.1 - Prototipo completo</a:t>
            </a:r>
            <a:endParaRPr lang="en-US" sz="1100" dirty="0"/>
          </a:p>
          <a:p>
            <a:pPr indent="0" marL="0">
              <a:buNone/>
            </a:pPr>
            <a:r>
              <a:rPr lang="en-US" sz="1100" dirty="0">
                <a:solidFill>
                  <a:srgbClr val="9CDCFE"/>
                </a:solidFill>
                <a:latin typeface="Consolas" pitchFamily="34" charset="0"/>
                <a:ea typeface="Consolas" pitchFamily="34" charset="-122"/>
                <a:cs typeface="Consolas" pitchFamily="34" charset="-120"/>
              </a:rPr>
              <a:t>&gt;&gt;&gt;&gt;&gt;&gt;&gt; origin/main</a:t>
            </a:r>
            <a:endParaRPr lang="en-US" sz="1100" dirty="0"/>
          </a:p>
        </p:txBody>
      </p:sp>
      <p:sp>
        <p:nvSpPr>
          <p:cNvPr id="5" name="Shape 3"/>
          <p:cNvSpPr/>
          <p:nvPr/>
        </p:nvSpPr>
        <p:spPr>
          <a:xfrm>
            <a:off x="365760" y="3246120"/>
            <a:ext cx="3931920" cy="1325880"/>
          </a:xfrm>
          <a:prstGeom prst="roundRect">
            <a:avLst>
              <a:gd name="adj" fmla="val 5517"/>
            </a:avLst>
          </a:prstGeom>
          <a:solidFill>
            <a:srgbClr val="EAF3E4"/>
          </a:solidFill>
          <a:ln w="12700">
            <a:solidFill>
              <a:srgbClr val="EAF3E4"/>
            </a:solidFill>
            <a:prstDash val="solid"/>
          </a:ln>
        </p:spPr>
      </p:sp>
      <p:sp>
        <p:nvSpPr>
          <p:cNvPr id="6" name="Text 4"/>
          <p:cNvSpPr txBox="1"/>
          <p:nvPr/>
        </p:nvSpPr>
        <p:spPr>
          <a:xfrm>
            <a:off x="548640" y="3337560"/>
            <a:ext cx="3566160" cy="274320"/>
          </a:xfrm>
          <a:prstGeom prst="rect">
            <a:avLst/>
          </a:prstGeom>
          <a:noFill/>
          <a:ln/>
        </p:spPr>
        <p:txBody>
          <a:bodyPr wrap="square" lIns="0" tIns="0" rIns="0" bIns="0" rtlCol="0" anchor="t"/>
          <a:lstStyle/>
          <a:p>
            <a:pPr indent="0" marL="0">
              <a:buNone/>
            </a:pPr>
            <a:r>
              <a:rPr lang="en-US" sz="1300" b="1" dirty="0">
                <a:solidFill>
                  <a:srgbClr val="1F4D3A"/>
                </a:solidFill>
              </a:rPr>
              <a:t>Resolution: combine both changes</a:t>
            </a:r>
            <a:endParaRPr lang="en-US" sz="1300" dirty="0"/>
          </a:p>
        </p:txBody>
      </p:sp>
      <p:sp>
        <p:nvSpPr>
          <p:cNvPr id="7" name="Text 5"/>
          <p:cNvSpPr txBox="1"/>
          <p:nvPr/>
        </p:nvSpPr>
        <p:spPr>
          <a:xfrm>
            <a:off x="548640" y="3657600"/>
            <a:ext cx="3566160" cy="822960"/>
          </a:xfrm>
          <a:prstGeom prst="rect">
            <a:avLst/>
          </a:prstGeom>
          <a:noFill/>
          <a:ln/>
        </p:spPr>
        <p:txBody>
          <a:bodyPr wrap="square" lIns="0" tIns="0" rIns="0" bIns="0" rtlCol="0" anchor="t"/>
          <a:lstStyle/>
          <a:p>
            <a:pPr indent="0" marL="0">
              <a:buNone/>
            </a:pPr>
            <a:r>
              <a:rPr lang="en-US" sz="1100" dirty="0">
                <a:solidFill>
                  <a:srgbClr val="2E7D57"/>
                </a:solidFill>
                <a:latin typeface="Consolas" pitchFamily="34" charset="0"/>
                <a:ea typeface="Consolas" pitchFamily="34" charset="-122"/>
                <a:cs typeface="Consolas" pitchFamily="34" charset="-120"/>
              </a:rPr>
              <a:t># EcoRecicla v1.1 - Plataforma de reciclaje urbano con pruebas automatizadas</a:t>
            </a:r>
            <a:endParaRPr lang="en-US" sz="1100" dirty="0"/>
          </a:p>
        </p:txBody>
      </p:sp>
      <p:pic>
        <p:nvPicPr>
          <p:cNvPr id="8" name="Image 0" descr="Pull request 3 with the merge commit">    </p:cNvPr>
          <p:cNvPicPr>
            <a:picLocks noChangeAspect="1"/>
          </p:cNvPicPr>
          <p:nvPr/>
        </p:nvPicPr>
        <p:blipFill>
          <a:blip r:embed="rId1"/>
          <a:stretch>
            <a:fillRect/>
          </a:stretch>
        </p:blipFill>
        <p:spPr>
          <a:xfrm>
            <a:off x="4480560" y="1722338"/>
            <a:ext cx="4297680" cy="2087445"/>
          </a:xfrm>
          <a:prstGeom prst="rect">
            <a:avLst/>
          </a:prstGeom>
        </p:spPr>
      </p:pic>
      <p:sp>
        <p:nvSpPr>
          <p:cNvPr id="9" name="Shape 6"/>
          <p:cNvSpPr/>
          <p:nvPr/>
        </p:nvSpPr>
        <p:spPr>
          <a:xfrm>
            <a:off x="4480560" y="1722338"/>
            <a:ext cx="4297680" cy="2087445"/>
          </a:xfrm>
          <a:prstGeom prst="rect">
            <a:avLst/>
          </a:prstGeom>
          <a:solidFill>
            <a:srgbClr val="FFFFFF">
              <a:alpha val="0"/>
            </a:srgbClr>
          </a:solidFill>
          <a:ln w="9525">
            <a:solidFill>
              <a:srgbClr val="BFC8C2"/>
            </a:solidFill>
            <a:prstDash val="solid"/>
          </a:ln>
        </p:spPr>
      </p:sp>
      <p:sp>
        <p:nvSpPr>
          <p:cNvPr id="25" name="Slide Number Placeholder 0"/>
          <p:cNvSpPr>
            <a:spLocks noGrp="1"/>
          </p:cNvSpPr>
          <p:nvPr>
            <p:ph type="sldNum" sz="quarter" idx="4294967295"/>
          </p:nvPr>
        </p:nvSpPr>
        <p:spPr>
          <a:xfrm>
            <a:off x="8366760" y="481888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3"/>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365760" y="182880"/>
            <a:ext cx="8412480" cy="594360"/>
          </a:xfrm>
          <a:prstGeom prst="rect">
            <a:avLst/>
          </a:prstGeom>
          <a:noFill/>
          <a:ln/>
        </p:spPr>
        <p:txBody>
          <a:bodyPr wrap="square" lIns="0" tIns="0" rIns="0" bIns="0" rtlCol="0" anchor="ctr"/>
          <a:lstStyle/>
          <a:p>
            <a:pPr algn="l" indent="0" marL="0">
              <a:buNone/>
            </a:pPr>
            <a:r>
              <a:rPr lang="en-US" sz="2400" b="1" dirty="0">
                <a:solidFill>
                  <a:srgbClr val="1F4D3A"/>
                </a:solidFill>
                <a:latin typeface="Cambria" pitchFamily="34" charset="0"/>
                <a:ea typeface="Cambria" pitchFamily="34" charset="-122"/>
                <a:cs typeface="Cambria" pitchFamily="34" charset="-120"/>
              </a:rPr>
              <a:t>Sessions 2 and 3: 90 automated tests</a:t>
            </a:r>
            <a:endParaRPr lang="en-US" sz="2400" dirty="0"/>
          </a:p>
        </p:txBody>
      </p:sp>
      <p:pic>
        <p:nvPicPr>
          <p:cNvPr id="3" name="Image 0" descr="Boundary value test ESC-09">    </p:cNvPr>
          <p:cNvPicPr>
            <a:picLocks noChangeAspect="1"/>
          </p:cNvPicPr>
          <p:nvPr/>
        </p:nvPicPr>
        <p:blipFill>
          <a:blip r:embed="rId1"/>
          <a:stretch>
            <a:fillRect/>
          </a:stretch>
        </p:blipFill>
        <p:spPr>
          <a:xfrm>
            <a:off x="365760" y="925484"/>
            <a:ext cx="8412480" cy="2995353"/>
          </a:xfrm>
          <a:prstGeom prst="rect">
            <a:avLst/>
          </a:prstGeom>
        </p:spPr>
      </p:pic>
      <p:sp>
        <p:nvSpPr>
          <p:cNvPr id="4" name="Shape 1"/>
          <p:cNvSpPr/>
          <p:nvPr/>
        </p:nvSpPr>
        <p:spPr>
          <a:xfrm>
            <a:off x="365760" y="925484"/>
            <a:ext cx="8412480" cy="2995353"/>
          </a:xfrm>
          <a:prstGeom prst="rect">
            <a:avLst/>
          </a:prstGeom>
          <a:solidFill>
            <a:srgbClr val="FFFFFF">
              <a:alpha val="0"/>
            </a:srgbClr>
          </a:solidFill>
          <a:ln w="9525">
            <a:solidFill>
              <a:srgbClr val="BFC8C2"/>
            </a:solidFill>
            <a:prstDash val="solid"/>
          </a:ln>
        </p:spPr>
      </p:sp>
      <p:sp>
        <p:nvSpPr>
          <p:cNvPr id="5" name="Shape 2"/>
          <p:cNvSpPr/>
          <p:nvPr/>
        </p:nvSpPr>
        <p:spPr>
          <a:xfrm>
            <a:off x="365760" y="4069080"/>
            <a:ext cx="2697480" cy="640080"/>
          </a:xfrm>
          <a:prstGeom prst="roundRect">
            <a:avLst>
              <a:gd name="adj" fmla="val 11429"/>
            </a:avLst>
          </a:prstGeom>
          <a:solidFill>
            <a:srgbClr val="1F4D3A"/>
          </a:solidFill>
          <a:ln w="12700">
            <a:solidFill>
              <a:srgbClr val="1F4D3A"/>
            </a:solidFill>
            <a:prstDash val="solid"/>
          </a:ln>
        </p:spPr>
      </p:sp>
      <p:sp>
        <p:nvSpPr>
          <p:cNvPr id="6" name="Text 3"/>
          <p:cNvSpPr txBox="1"/>
          <p:nvPr/>
        </p:nvSpPr>
        <p:spPr>
          <a:xfrm>
            <a:off x="502920" y="4087368"/>
            <a:ext cx="731520" cy="603504"/>
          </a:xfrm>
          <a:prstGeom prst="rect">
            <a:avLst/>
          </a:prstGeom>
          <a:noFill/>
          <a:ln/>
        </p:spPr>
        <p:txBody>
          <a:bodyPr wrap="square" lIns="0" tIns="0" rIns="0" bIns="0" rtlCol="0" anchor="ctr"/>
          <a:lstStyle/>
          <a:p>
            <a:pPr indent="0" marL="0">
              <a:buNone/>
            </a:pPr>
            <a:r>
              <a:rPr lang="en-US" sz="2600" b="1" dirty="0">
                <a:solidFill>
                  <a:srgbClr val="E9A23B"/>
                </a:solidFill>
                <a:latin typeface="Cambria" pitchFamily="34" charset="0"/>
                <a:ea typeface="Cambria" pitchFamily="34" charset="-122"/>
                <a:cs typeface="Cambria" pitchFamily="34" charset="-120"/>
              </a:rPr>
              <a:t>90</a:t>
            </a:r>
            <a:endParaRPr lang="en-US" sz="2600" dirty="0"/>
          </a:p>
        </p:txBody>
      </p:sp>
      <p:sp>
        <p:nvSpPr>
          <p:cNvPr id="7" name="Text 4"/>
          <p:cNvSpPr txBox="1"/>
          <p:nvPr/>
        </p:nvSpPr>
        <p:spPr>
          <a:xfrm>
            <a:off x="1234440" y="4087368"/>
            <a:ext cx="1783080" cy="603504"/>
          </a:xfrm>
          <a:prstGeom prst="rect">
            <a:avLst/>
          </a:prstGeom>
          <a:noFill/>
          <a:ln/>
        </p:spPr>
        <p:txBody>
          <a:bodyPr wrap="square" lIns="0" tIns="0" rIns="0" bIns="0" rtlCol="0" anchor="ctr"/>
          <a:lstStyle/>
          <a:p>
            <a:pPr indent="0" marL="0">
              <a:buNone/>
            </a:pPr>
            <a:r>
              <a:rPr lang="en-US" sz="1200" dirty="0">
                <a:solidFill>
                  <a:srgbClr val="FFFFFF"/>
                </a:solidFill>
              </a:rPr>
              <a:t>automated tests</a:t>
            </a:r>
            <a:endParaRPr lang="en-US" sz="1200" dirty="0"/>
          </a:p>
        </p:txBody>
      </p:sp>
      <p:sp>
        <p:nvSpPr>
          <p:cNvPr id="8" name="Shape 5"/>
          <p:cNvSpPr/>
          <p:nvPr/>
        </p:nvSpPr>
        <p:spPr>
          <a:xfrm>
            <a:off x="3200400" y="4069080"/>
            <a:ext cx="2697480" cy="640080"/>
          </a:xfrm>
          <a:prstGeom prst="roundRect">
            <a:avLst>
              <a:gd name="adj" fmla="val 11429"/>
            </a:avLst>
          </a:prstGeom>
          <a:solidFill>
            <a:srgbClr val="EAF3E4"/>
          </a:solidFill>
          <a:ln w="12700">
            <a:solidFill>
              <a:srgbClr val="EAF3E4"/>
            </a:solidFill>
            <a:prstDash val="solid"/>
          </a:ln>
        </p:spPr>
      </p:sp>
      <p:sp>
        <p:nvSpPr>
          <p:cNvPr id="9" name="Text 6"/>
          <p:cNvSpPr txBox="1"/>
          <p:nvPr/>
        </p:nvSpPr>
        <p:spPr>
          <a:xfrm>
            <a:off x="3337560" y="4087368"/>
            <a:ext cx="731520" cy="603504"/>
          </a:xfrm>
          <a:prstGeom prst="rect">
            <a:avLst/>
          </a:prstGeom>
          <a:noFill/>
          <a:ln/>
        </p:spPr>
        <p:txBody>
          <a:bodyPr wrap="square" lIns="0" tIns="0" rIns="0" bIns="0" rtlCol="0" anchor="ctr"/>
          <a:lstStyle/>
          <a:p>
            <a:pPr indent="0" marL="0">
              <a:buNone/>
            </a:pPr>
            <a:r>
              <a:rPr lang="en-US" sz="2600" b="1" dirty="0">
                <a:solidFill>
                  <a:srgbClr val="2E7D57"/>
                </a:solidFill>
                <a:latin typeface="Cambria" pitchFamily="34" charset="0"/>
                <a:ea typeface="Cambria" pitchFamily="34" charset="-122"/>
                <a:cs typeface="Cambria" pitchFamily="34" charset="-120"/>
              </a:rPr>
              <a:t>44</a:t>
            </a:r>
            <a:endParaRPr lang="en-US" sz="2600" dirty="0"/>
          </a:p>
        </p:txBody>
      </p:sp>
      <p:sp>
        <p:nvSpPr>
          <p:cNvPr id="10" name="Text 7"/>
          <p:cNvSpPr txBox="1"/>
          <p:nvPr/>
        </p:nvSpPr>
        <p:spPr>
          <a:xfrm>
            <a:off x="4069080" y="4087368"/>
            <a:ext cx="1783080" cy="603504"/>
          </a:xfrm>
          <a:prstGeom prst="rect">
            <a:avLst/>
          </a:prstGeom>
          <a:noFill/>
          <a:ln/>
        </p:spPr>
        <p:txBody>
          <a:bodyPr wrap="square" lIns="0" tIns="0" rIns="0" bIns="0" rtlCol="0" anchor="ctr"/>
          <a:lstStyle/>
          <a:p>
            <a:pPr indent="0" marL="0">
              <a:buNone/>
            </a:pPr>
            <a:r>
              <a:rPr lang="en-US" sz="1200" dirty="0">
                <a:solidFill>
                  <a:srgbClr val="1E2A24"/>
                </a:solidFill>
              </a:rPr>
              <a:t>unit tests</a:t>
            </a:r>
            <a:endParaRPr lang="en-US" sz="1200" dirty="0"/>
          </a:p>
        </p:txBody>
      </p:sp>
      <p:sp>
        <p:nvSpPr>
          <p:cNvPr id="11" name="Shape 8"/>
          <p:cNvSpPr/>
          <p:nvPr/>
        </p:nvSpPr>
        <p:spPr>
          <a:xfrm>
            <a:off x="6035040" y="4069080"/>
            <a:ext cx="2697480" cy="640080"/>
          </a:xfrm>
          <a:prstGeom prst="roundRect">
            <a:avLst>
              <a:gd name="adj" fmla="val 11429"/>
            </a:avLst>
          </a:prstGeom>
          <a:solidFill>
            <a:srgbClr val="EAF3E4"/>
          </a:solidFill>
          <a:ln w="12700">
            <a:solidFill>
              <a:srgbClr val="EAF3E4"/>
            </a:solidFill>
            <a:prstDash val="solid"/>
          </a:ln>
        </p:spPr>
      </p:sp>
      <p:sp>
        <p:nvSpPr>
          <p:cNvPr id="12" name="Text 9"/>
          <p:cNvSpPr txBox="1"/>
          <p:nvPr/>
        </p:nvSpPr>
        <p:spPr>
          <a:xfrm>
            <a:off x="6172200" y="4087368"/>
            <a:ext cx="731520" cy="603504"/>
          </a:xfrm>
          <a:prstGeom prst="rect">
            <a:avLst/>
          </a:prstGeom>
          <a:noFill/>
          <a:ln/>
        </p:spPr>
        <p:txBody>
          <a:bodyPr wrap="square" lIns="0" tIns="0" rIns="0" bIns="0" rtlCol="0" anchor="ctr"/>
          <a:lstStyle/>
          <a:p>
            <a:pPr indent="0" marL="0">
              <a:buNone/>
            </a:pPr>
            <a:r>
              <a:rPr lang="en-US" sz="2600" b="1" dirty="0">
                <a:solidFill>
                  <a:srgbClr val="2E7D57"/>
                </a:solidFill>
                <a:latin typeface="Cambria" pitchFamily="34" charset="0"/>
                <a:ea typeface="Cambria" pitchFamily="34" charset="-122"/>
                <a:cs typeface="Cambria" pitchFamily="34" charset="-120"/>
              </a:rPr>
              <a:t>46</a:t>
            </a:r>
            <a:endParaRPr lang="en-US" sz="2600" dirty="0"/>
          </a:p>
        </p:txBody>
      </p:sp>
      <p:sp>
        <p:nvSpPr>
          <p:cNvPr id="13" name="Text 10"/>
          <p:cNvSpPr txBox="1"/>
          <p:nvPr/>
        </p:nvSpPr>
        <p:spPr>
          <a:xfrm>
            <a:off x="6903720" y="4087368"/>
            <a:ext cx="1783080" cy="603504"/>
          </a:xfrm>
          <a:prstGeom prst="rect">
            <a:avLst/>
          </a:prstGeom>
          <a:noFill/>
          <a:ln/>
        </p:spPr>
        <p:txBody>
          <a:bodyPr wrap="square" lIns="0" tIns="0" rIns="0" bIns="0" rtlCol="0" anchor="ctr"/>
          <a:lstStyle/>
          <a:p>
            <a:pPr indent="0" marL="0">
              <a:buNone/>
            </a:pPr>
            <a:r>
              <a:rPr lang="en-US" sz="1200" dirty="0">
                <a:solidFill>
                  <a:srgbClr val="1E2A24"/>
                </a:solidFill>
              </a:rPr>
              <a:t>integration tests (isolated database)</a:t>
            </a:r>
            <a:endParaRPr lang="en-US" sz="1200" dirty="0"/>
          </a:p>
        </p:txBody>
      </p:sp>
      <p:sp>
        <p:nvSpPr>
          <p:cNvPr id="25" name="Slide Number Placeholder 0"/>
          <p:cNvSpPr>
            <a:spLocks noGrp="1"/>
          </p:cNvSpPr>
          <p:nvPr>
            <p:ph type="sldNum" sz="quarter" idx="4294967295"/>
          </p:nvPr>
        </p:nvSpPr>
        <p:spPr>
          <a:xfrm>
            <a:off x="8366760" y="481888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3"/>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365760" y="182880"/>
            <a:ext cx="8412480" cy="594360"/>
          </a:xfrm>
          <a:prstGeom prst="rect">
            <a:avLst/>
          </a:prstGeom>
          <a:noFill/>
          <a:ln/>
        </p:spPr>
        <p:txBody>
          <a:bodyPr wrap="square" lIns="0" tIns="0" rIns="0" bIns="0" rtlCol="0" anchor="ctr"/>
          <a:lstStyle/>
          <a:p>
            <a:pPr algn="l" indent="0" marL="0">
              <a:buNone/>
            </a:pPr>
            <a:r>
              <a:rPr lang="en-US" sz="2400" b="1" dirty="0">
                <a:solidFill>
                  <a:srgbClr val="1F4D3A"/>
                </a:solidFill>
                <a:latin typeface="Cambria" pitchFamily="34" charset="0"/>
                <a:ea typeface="Cambria" pitchFamily="34" charset="-122"/>
                <a:cs typeface="Cambria" pitchFamily="34" charset="-120"/>
              </a:rPr>
              <a:t>GitHub Actions found five real defects</a:t>
            </a:r>
            <a:endParaRPr lang="en-US" sz="2400" dirty="0"/>
          </a:p>
        </p:txBody>
      </p:sp>
      <p:sp>
        <p:nvSpPr>
          <p:cNvPr id="3" name="Shape 1"/>
          <p:cNvSpPr/>
          <p:nvPr/>
        </p:nvSpPr>
        <p:spPr>
          <a:xfrm>
            <a:off x="365760" y="896112"/>
            <a:ext cx="4114800" cy="292608"/>
          </a:xfrm>
          <a:prstGeom prst="roundRect">
            <a:avLst>
              <a:gd name="adj" fmla="val 18750"/>
            </a:avLst>
          </a:prstGeom>
          <a:solidFill>
            <a:srgbClr val="C62828"/>
          </a:solidFill>
          <a:ln w="12700">
            <a:solidFill>
              <a:srgbClr val="C62828"/>
            </a:solidFill>
            <a:prstDash val="solid"/>
          </a:ln>
        </p:spPr>
      </p:sp>
      <p:sp>
        <p:nvSpPr>
          <p:cNvPr id="4" name="Text 2"/>
          <p:cNvSpPr txBox="1"/>
          <p:nvPr/>
        </p:nvSpPr>
        <p:spPr>
          <a:xfrm>
            <a:off x="365760" y="896112"/>
            <a:ext cx="4114800" cy="292608"/>
          </a:xfrm>
          <a:prstGeom prst="rect">
            <a:avLst/>
          </a:prstGeom>
          <a:noFill/>
          <a:ln/>
        </p:spPr>
        <p:txBody>
          <a:bodyPr wrap="square" lIns="0" tIns="0" rIns="0" bIns="0" rtlCol="0" anchor="ctr"/>
          <a:lstStyle/>
          <a:p>
            <a:pPr algn="ctr" indent="0" marL="0">
              <a:buNone/>
            </a:pPr>
            <a:r>
              <a:rPr lang="en-US" sz="1100" b="1" dirty="0">
                <a:solidFill>
                  <a:srgbClr val="FFFFFF"/>
                </a:solidFill>
              </a:rPr>
              <a:t>First run: FAILED (10 of 76 tests)</a:t>
            </a:r>
            <a:endParaRPr lang="en-US" sz="1100" dirty="0"/>
          </a:p>
        </p:txBody>
      </p:sp>
      <p:sp>
        <p:nvSpPr>
          <p:cNvPr id="5" name="Shape 3"/>
          <p:cNvSpPr/>
          <p:nvPr/>
        </p:nvSpPr>
        <p:spPr>
          <a:xfrm>
            <a:off x="4663440" y="896112"/>
            <a:ext cx="4114800" cy="292608"/>
          </a:xfrm>
          <a:prstGeom prst="roundRect">
            <a:avLst>
              <a:gd name="adj" fmla="val 18750"/>
            </a:avLst>
          </a:prstGeom>
          <a:solidFill>
            <a:srgbClr val="2E7D57"/>
          </a:solidFill>
          <a:ln w="12700">
            <a:solidFill>
              <a:srgbClr val="2E7D57"/>
            </a:solidFill>
            <a:prstDash val="solid"/>
          </a:ln>
        </p:spPr>
      </p:sp>
      <p:sp>
        <p:nvSpPr>
          <p:cNvPr id="6" name="Text 4"/>
          <p:cNvSpPr txBox="1"/>
          <p:nvPr/>
        </p:nvSpPr>
        <p:spPr>
          <a:xfrm>
            <a:off x="4663440" y="896112"/>
            <a:ext cx="4114800" cy="292608"/>
          </a:xfrm>
          <a:prstGeom prst="rect">
            <a:avLst/>
          </a:prstGeom>
          <a:noFill/>
          <a:ln/>
        </p:spPr>
        <p:txBody>
          <a:bodyPr wrap="square" lIns="0" tIns="0" rIns="0" bIns="0" rtlCol="0" anchor="ctr"/>
          <a:lstStyle/>
          <a:p>
            <a:pPr algn="ctr" indent="0" marL="0">
              <a:buNone/>
            </a:pPr>
            <a:r>
              <a:rPr lang="en-US" sz="1100" b="1" dirty="0">
                <a:solidFill>
                  <a:srgbClr val="FFFFFF"/>
                </a:solidFill>
              </a:rPr>
              <a:t>After the fixes: PASSED (90 of 90)</a:t>
            </a:r>
            <a:endParaRPr lang="en-US" sz="1100" dirty="0"/>
          </a:p>
        </p:txBody>
      </p:sp>
      <p:pic>
        <p:nvPicPr>
          <p:cNvPr id="7" name="Image 0" descr="Failed CI run">    </p:cNvPr>
          <p:cNvPicPr>
            <a:picLocks noChangeAspect="1"/>
          </p:cNvPicPr>
          <p:nvPr/>
        </p:nvPicPr>
        <p:blipFill>
          <a:blip r:embed="rId1"/>
          <a:stretch>
            <a:fillRect/>
          </a:stretch>
        </p:blipFill>
        <p:spPr>
          <a:xfrm>
            <a:off x="365760" y="1864635"/>
            <a:ext cx="4114800" cy="1619971"/>
          </a:xfrm>
          <a:prstGeom prst="rect">
            <a:avLst/>
          </a:prstGeom>
        </p:spPr>
      </p:pic>
      <p:sp>
        <p:nvSpPr>
          <p:cNvPr id="8" name="Shape 5"/>
          <p:cNvSpPr/>
          <p:nvPr/>
        </p:nvSpPr>
        <p:spPr>
          <a:xfrm>
            <a:off x="365760" y="1864635"/>
            <a:ext cx="4114800" cy="1619971"/>
          </a:xfrm>
          <a:prstGeom prst="rect">
            <a:avLst/>
          </a:prstGeom>
          <a:solidFill>
            <a:srgbClr val="FFFFFF">
              <a:alpha val="0"/>
            </a:srgbClr>
          </a:solidFill>
          <a:ln w="9525">
            <a:solidFill>
              <a:srgbClr val="BFC8C2"/>
            </a:solidFill>
            <a:prstDash val="solid"/>
          </a:ln>
        </p:spPr>
      </p:sp>
      <p:pic>
        <p:nvPicPr>
          <p:cNvPr id="9" name="Image 1" descr="Passed CI run">    </p:cNvPr>
          <p:cNvPicPr>
            <a:picLocks noChangeAspect="1"/>
          </p:cNvPicPr>
          <p:nvPr/>
        </p:nvPicPr>
        <p:blipFill>
          <a:blip r:embed="rId2"/>
          <a:stretch>
            <a:fillRect/>
          </a:stretch>
        </p:blipFill>
        <p:spPr>
          <a:xfrm>
            <a:off x="4663440" y="1864635"/>
            <a:ext cx="4114800" cy="1619971"/>
          </a:xfrm>
          <a:prstGeom prst="rect">
            <a:avLst/>
          </a:prstGeom>
        </p:spPr>
      </p:pic>
      <p:sp>
        <p:nvSpPr>
          <p:cNvPr id="10" name="Shape 6"/>
          <p:cNvSpPr/>
          <p:nvPr/>
        </p:nvSpPr>
        <p:spPr>
          <a:xfrm>
            <a:off x="4663440" y="1864635"/>
            <a:ext cx="4114800" cy="1619971"/>
          </a:xfrm>
          <a:prstGeom prst="rect">
            <a:avLst/>
          </a:prstGeom>
          <a:solidFill>
            <a:srgbClr val="FFFFFF">
              <a:alpha val="0"/>
            </a:srgbClr>
          </a:solidFill>
          <a:ln w="9525">
            <a:solidFill>
              <a:srgbClr val="BFC8C2"/>
            </a:solidFill>
            <a:prstDash val="solid"/>
          </a:ln>
        </p:spPr>
      </p:sp>
      <p:sp>
        <p:nvSpPr>
          <p:cNvPr id="11" name="Shape 7"/>
          <p:cNvSpPr/>
          <p:nvPr/>
        </p:nvSpPr>
        <p:spPr>
          <a:xfrm>
            <a:off x="365760" y="4160520"/>
            <a:ext cx="8412480" cy="548640"/>
          </a:xfrm>
          <a:prstGeom prst="roundRect">
            <a:avLst>
              <a:gd name="adj" fmla="val 13333"/>
            </a:avLst>
          </a:prstGeom>
          <a:solidFill>
            <a:srgbClr val="FBEBD2"/>
          </a:solidFill>
          <a:ln w="12700">
            <a:solidFill>
              <a:srgbClr val="FBEBD2"/>
            </a:solidFill>
            <a:prstDash val="solid"/>
          </a:ln>
        </p:spPr>
      </p:sp>
      <p:sp>
        <p:nvSpPr>
          <p:cNvPr id="12" name="Text 8"/>
          <p:cNvSpPr txBox="1"/>
          <p:nvPr/>
        </p:nvSpPr>
        <p:spPr>
          <a:xfrm>
            <a:off x="548640" y="4187952"/>
            <a:ext cx="8046720" cy="493776"/>
          </a:xfrm>
          <a:prstGeom prst="rect">
            <a:avLst/>
          </a:prstGeom>
          <a:noFill/>
          <a:ln/>
        </p:spPr>
        <p:txBody>
          <a:bodyPr wrap="square" lIns="0" tIns="0" rIns="0" bIns="0" rtlCol="0" anchor="ctr"/>
          <a:lstStyle/>
          <a:p>
            <a:pPr indent="0" marL="0">
              <a:buNone/>
            </a:pPr>
            <a:r>
              <a:rPr lang="en-US" sz="1400" b="1" dirty="0">
                <a:solidFill>
                  <a:srgbClr val="1F4D3A"/>
                </a:solidFill>
              </a:rPr>
              <a:t>Examples: </a:t>
            </a:r>
            <a:pPr indent="0" marL="0">
              <a:buNone/>
            </a:pPr>
            <a:r>
              <a:rPr lang="en-US" sz="1400" dirty="0">
                <a:solidFill>
                  <a:srgbClr val="1F4D3A"/>
                </a:solidFill>
              </a:rPr>
              <a:t>0.004 kg returned HTTP 500 (internal server error) · the date 2026-02-30 was accepted</a:t>
            </a:r>
            <a:endParaRPr lang="en-US" sz="1400" dirty="0"/>
          </a:p>
        </p:txBody>
      </p:sp>
      <p:sp>
        <p:nvSpPr>
          <p:cNvPr id="25" name="Slide Number Placeholder 0"/>
          <p:cNvSpPr>
            <a:spLocks noGrp="1"/>
          </p:cNvSpPr>
          <p:nvPr>
            <p:ph type="sldNum" sz="quarter" idx="4294967295"/>
          </p:nvPr>
        </p:nvSpPr>
        <p:spPr>
          <a:xfrm>
            <a:off x="8366760" y="481888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3"/>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365760" y="182880"/>
            <a:ext cx="8412480" cy="594360"/>
          </a:xfrm>
          <a:prstGeom prst="rect">
            <a:avLst/>
          </a:prstGeom>
          <a:noFill/>
          <a:ln/>
        </p:spPr>
        <p:txBody>
          <a:bodyPr wrap="square" lIns="0" tIns="0" rIns="0" bIns="0" rtlCol="0" anchor="ctr"/>
          <a:lstStyle/>
          <a:p>
            <a:pPr algn="l" indent="0" marL="0">
              <a:buNone/>
            </a:pPr>
            <a:r>
              <a:rPr lang="en-US" sz="2400" b="1" dirty="0">
                <a:solidFill>
                  <a:srgbClr val="1F4D3A"/>
                </a:solidFill>
                <a:latin typeface="Cambria" pitchFamily="34" charset="0"/>
                <a:ea typeface="Cambria" pitchFamily="34" charset="-122"/>
                <a:cs typeface="Cambria" pitchFamily="34" charset="-120"/>
              </a:rPr>
              <a:t>Each defect: issue, fix branch, test again</a:t>
            </a:r>
            <a:endParaRPr lang="en-US" sz="2400" dirty="0"/>
          </a:p>
        </p:txBody>
      </p:sp>
      <p:pic>
        <p:nvPicPr>
          <p:cNvPr id="3" name="Image 0" descr="Closed defect issues">    </p:cNvPr>
          <p:cNvPicPr>
            <a:picLocks noChangeAspect="1"/>
          </p:cNvPicPr>
          <p:nvPr/>
        </p:nvPicPr>
        <p:blipFill>
          <a:blip r:embed="rId1"/>
          <a:stretch>
            <a:fillRect/>
          </a:stretch>
        </p:blipFill>
        <p:spPr>
          <a:xfrm>
            <a:off x="365760" y="1211580"/>
            <a:ext cx="4023360" cy="2514600"/>
          </a:xfrm>
          <a:prstGeom prst="rect">
            <a:avLst/>
          </a:prstGeom>
        </p:spPr>
      </p:pic>
      <p:sp>
        <p:nvSpPr>
          <p:cNvPr id="4" name="Shape 1"/>
          <p:cNvSpPr/>
          <p:nvPr/>
        </p:nvSpPr>
        <p:spPr>
          <a:xfrm>
            <a:off x="365760" y="1211580"/>
            <a:ext cx="4023360" cy="2514600"/>
          </a:xfrm>
          <a:prstGeom prst="rect">
            <a:avLst/>
          </a:prstGeom>
          <a:solidFill>
            <a:srgbClr val="FFFFFF">
              <a:alpha val="0"/>
            </a:srgbClr>
          </a:solidFill>
          <a:ln w="9525">
            <a:solidFill>
              <a:srgbClr val="BFC8C2"/>
            </a:solidFill>
            <a:prstDash val="solid"/>
          </a:ln>
        </p:spPr>
      </p:sp>
      <p:sp>
        <p:nvSpPr>
          <p:cNvPr id="5" name="Text 2"/>
          <p:cNvSpPr txBox="1"/>
          <p:nvPr/>
        </p:nvSpPr>
        <p:spPr>
          <a:xfrm>
            <a:off x="365760" y="4160520"/>
            <a:ext cx="4023360" cy="365760"/>
          </a:xfrm>
          <a:prstGeom prst="rect">
            <a:avLst/>
          </a:prstGeom>
          <a:noFill/>
          <a:ln/>
        </p:spPr>
        <p:txBody>
          <a:bodyPr wrap="square" lIns="0" tIns="0" rIns="0" bIns="0" rtlCol="0" anchor="t"/>
          <a:lstStyle/>
          <a:p>
            <a:pPr indent="0" marL="0">
              <a:buNone/>
            </a:pPr>
            <a:r>
              <a:rPr lang="en-US" sz="1300" dirty="0">
                <a:solidFill>
                  <a:srgbClr val="5B6B63"/>
                </a:solidFill>
              </a:rPr>
              <a:t>5 issues closed: 1 high, 2 medium, 2 low severity</a:t>
            </a:r>
            <a:endParaRPr lang="en-US" sz="1300" dirty="0"/>
          </a:p>
        </p:txBody>
      </p:sp>
      <p:sp>
        <p:nvSpPr>
          <p:cNvPr id="6" name="Text 3"/>
          <p:cNvSpPr txBox="1"/>
          <p:nvPr/>
        </p:nvSpPr>
        <p:spPr>
          <a:xfrm>
            <a:off x="4572000" y="914400"/>
            <a:ext cx="4206240" cy="320040"/>
          </a:xfrm>
          <a:prstGeom prst="rect">
            <a:avLst/>
          </a:prstGeom>
          <a:noFill/>
          <a:ln/>
        </p:spPr>
        <p:txBody>
          <a:bodyPr wrap="square" lIns="0" tIns="0" rIns="0" bIns="0" rtlCol="0" anchor="t"/>
          <a:lstStyle/>
          <a:p>
            <a:pPr indent="0" marL="0">
              <a:buNone/>
            </a:pPr>
            <a:r>
              <a:rPr lang="en-US" sz="1400" b="1" dirty="0">
                <a:solidFill>
                  <a:srgbClr val="1F4D3A"/>
                </a:solidFill>
              </a:rPr>
              <a:t>Fix for dates (DEF-02)</a:t>
            </a:r>
            <a:endParaRPr lang="en-US" sz="1400" dirty="0"/>
          </a:p>
        </p:txBody>
      </p:sp>
      <p:pic>
        <p:nvPicPr>
          <p:cNvPr id="7" name="Image 1" descr="esFechaValida function">    </p:cNvPr>
          <p:cNvPicPr>
            <a:picLocks noChangeAspect="1"/>
          </p:cNvPicPr>
          <p:nvPr/>
        </p:nvPicPr>
        <p:blipFill>
          <a:blip r:embed="rId2"/>
          <a:stretch>
            <a:fillRect/>
          </a:stretch>
        </p:blipFill>
        <p:spPr>
          <a:xfrm>
            <a:off x="4572000" y="1296433"/>
            <a:ext cx="4206240" cy="1247614"/>
          </a:xfrm>
          <a:prstGeom prst="rect">
            <a:avLst/>
          </a:prstGeom>
        </p:spPr>
      </p:pic>
      <p:sp>
        <p:nvSpPr>
          <p:cNvPr id="8" name="Shape 4"/>
          <p:cNvSpPr/>
          <p:nvPr/>
        </p:nvSpPr>
        <p:spPr>
          <a:xfrm>
            <a:off x="4572000" y="1296433"/>
            <a:ext cx="4206240" cy="1247614"/>
          </a:xfrm>
          <a:prstGeom prst="rect">
            <a:avLst/>
          </a:prstGeom>
          <a:solidFill>
            <a:srgbClr val="FFFFFF">
              <a:alpha val="0"/>
            </a:srgbClr>
          </a:solidFill>
          <a:ln w="9525">
            <a:solidFill>
              <a:srgbClr val="BFC8C2"/>
            </a:solidFill>
            <a:prstDash val="solid"/>
          </a:ln>
        </p:spPr>
      </p:sp>
      <p:sp>
        <p:nvSpPr>
          <p:cNvPr id="9" name="Shape 5"/>
          <p:cNvSpPr/>
          <p:nvPr/>
        </p:nvSpPr>
        <p:spPr>
          <a:xfrm>
            <a:off x="4572000" y="2788920"/>
            <a:ext cx="4206240" cy="1234440"/>
          </a:xfrm>
          <a:prstGeom prst="roundRect">
            <a:avLst>
              <a:gd name="adj" fmla="val 5926"/>
            </a:avLst>
          </a:prstGeom>
          <a:solidFill>
            <a:srgbClr val="EAF3E4"/>
          </a:solidFill>
          <a:ln w="12700">
            <a:solidFill>
              <a:srgbClr val="EAF3E4"/>
            </a:solidFill>
            <a:prstDash val="solid"/>
          </a:ln>
        </p:spPr>
      </p:sp>
      <p:sp>
        <p:nvSpPr>
          <p:cNvPr id="10" name="Text 6"/>
          <p:cNvSpPr txBox="1"/>
          <p:nvPr/>
        </p:nvSpPr>
        <p:spPr>
          <a:xfrm>
            <a:off x="4754880" y="2880360"/>
            <a:ext cx="3840480" cy="1051560"/>
          </a:xfrm>
          <a:prstGeom prst="rect">
            <a:avLst/>
          </a:prstGeom>
          <a:noFill/>
          <a:ln/>
        </p:spPr>
        <p:txBody>
          <a:bodyPr wrap="square" lIns="0" tIns="0" rIns="0" bIns="0" rtlCol="0" anchor="ctr"/>
          <a:lstStyle/>
          <a:p>
            <a:pPr indent="0" marL="0">
              <a:buNone/>
            </a:pPr>
            <a:r>
              <a:rPr lang="en-US" sz="1400" dirty="0">
                <a:solidFill>
                  <a:srgbClr val="1E2A24"/>
                </a:solidFill>
              </a:rPr>
              <a:t>JavaScript turns February 30 into March 2. If the rebuilt date changes, the date does not exist.</a:t>
            </a:r>
            <a:endParaRPr lang="en-US" sz="1400" dirty="0"/>
          </a:p>
        </p:txBody>
      </p:sp>
      <p:sp>
        <p:nvSpPr>
          <p:cNvPr id="25" name="Slide Number Placeholder 0"/>
          <p:cNvSpPr>
            <a:spLocks noGrp="1"/>
          </p:cNvSpPr>
          <p:nvPr>
            <p:ph type="sldNum" sz="quarter" idx="4294967295"/>
          </p:nvPr>
        </p:nvSpPr>
        <p:spPr>
          <a:xfrm>
            <a:off x="8366760" y="481888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3"/>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All 90 tests pass</a:t>
            </a:r>
            <a:endParaRPr lang="en-US" sz="3200" dirty="0"/>
          </a:p>
        </p:txBody>
      </p:sp>
      <p:pic>
        <p:nvPicPr>
          <p:cNvPr id="3" name="Image 0" descr="npm test output">    </p:cNvPr>
          <p:cNvPicPr>
            <a:picLocks noChangeAspect="1"/>
          </p:cNvPicPr>
          <p:nvPr/>
        </p:nvPicPr>
        <p:blipFill>
          <a:blip r:embed="rId1"/>
          <a:stretch>
            <a:fillRect/>
          </a:stretch>
        </p:blipFill>
        <p:spPr>
          <a:xfrm>
            <a:off x="548640" y="1142634"/>
            <a:ext cx="4754880" cy="1920972"/>
          </a:xfrm>
          <a:prstGeom prst="rect">
            <a:avLst/>
          </a:prstGeom>
        </p:spPr>
      </p:pic>
      <p:sp>
        <p:nvSpPr>
          <p:cNvPr id="4" name="Shape 1"/>
          <p:cNvSpPr/>
          <p:nvPr/>
        </p:nvSpPr>
        <p:spPr>
          <a:xfrm>
            <a:off x="548640" y="1142634"/>
            <a:ext cx="4754880" cy="1920972"/>
          </a:xfrm>
          <a:prstGeom prst="rect">
            <a:avLst/>
          </a:prstGeom>
          <a:solidFill>
            <a:srgbClr val="FFFFFF">
              <a:alpha val="0"/>
            </a:srgbClr>
          </a:solidFill>
          <a:ln w="9525">
            <a:solidFill>
              <a:srgbClr val="BFC8C2"/>
            </a:solidFill>
            <a:prstDash val="solid"/>
          </a:ln>
        </p:spPr>
      </p:sp>
      <p:sp>
        <p:nvSpPr>
          <p:cNvPr id="5" name="Text 2"/>
          <p:cNvSpPr txBox="1"/>
          <p:nvPr/>
        </p:nvSpPr>
        <p:spPr>
          <a:xfrm>
            <a:off x="5577840" y="1097280"/>
            <a:ext cx="1645920" cy="502920"/>
          </a:xfrm>
          <a:prstGeom prst="rect">
            <a:avLst/>
          </a:prstGeom>
          <a:noFill/>
          <a:ln/>
        </p:spPr>
        <p:txBody>
          <a:bodyPr wrap="square" lIns="0" tIns="0" rIns="0" bIns="0" rtlCol="0" anchor="t"/>
          <a:lstStyle/>
          <a:p>
            <a:pPr indent="0" marL="0">
              <a:buNone/>
            </a:pPr>
            <a:r>
              <a:rPr lang="en-US" sz="2400" b="1" dirty="0">
                <a:solidFill>
                  <a:srgbClr val="E9A23B"/>
                </a:solidFill>
                <a:latin typeface="Cambria" pitchFamily="34" charset="0"/>
                <a:ea typeface="Cambria" pitchFamily="34" charset="-122"/>
                <a:cs typeface="Cambria" pitchFamily="34" charset="-120"/>
              </a:rPr>
              <a:t>90 / 90</a:t>
            </a:r>
            <a:endParaRPr lang="en-US" sz="2400" dirty="0"/>
          </a:p>
        </p:txBody>
      </p:sp>
      <p:sp>
        <p:nvSpPr>
          <p:cNvPr id="6" name="Text 3"/>
          <p:cNvSpPr txBox="1"/>
          <p:nvPr/>
        </p:nvSpPr>
        <p:spPr>
          <a:xfrm>
            <a:off x="7223760" y="1207008"/>
            <a:ext cx="1554480" cy="365760"/>
          </a:xfrm>
          <a:prstGeom prst="rect">
            <a:avLst/>
          </a:prstGeom>
          <a:noFill/>
          <a:ln/>
        </p:spPr>
        <p:txBody>
          <a:bodyPr wrap="square" lIns="0" tIns="0" rIns="0" bIns="0" rtlCol="0" anchor="t"/>
          <a:lstStyle/>
          <a:p>
            <a:pPr indent="0" marL="0">
              <a:buNone/>
            </a:pPr>
            <a:r>
              <a:rPr lang="en-US" sz="1300" dirty="0">
                <a:solidFill>
                  <a:srgbClr val="CFE3D3"/>
                </a:solidFill>
              </a:rPr>
              <a:t>tests pass</a:t>
            </a:r>
            <a:endParaRPr lang="en-US" sz="1300" dirty="0"/>
          </a:p>
        </p:txBody>
      </p:sp>
      <p:sp>
        <p:nvSpPr>
          <p:cNvPr id="7" name="Text 4"/>
          <p:cNvSpPr txBox="1"/>
          <p:nvPr/>
        </p:nvSpPr>
        <p:spPr>
          <a:xfrm>
            <a:off x="5577840" y="1783080"/>
            <a:ext cx="1645920" cy="502920"/>
          </a:xfrm>
          <a:prstGeom prst="rect">
            <a:avLst/>
          </a:prstGeom>
          <a:noFill/>
          <a:ln/>
        </p:spPr>
        <p:txBody>
          <a:bodyPr wrap="square" lIns="0" tIns="0" rIns="0" bIns="0" rtlCol="0" anchor="t"/>
          <a:lstStyle/>
          <a:p>
            <a:pPr indent="0" marL="0">
              <a:buNone/>
            </a:pPr>
            <a:r>
              <a:rPr lang="en-US" sz="2400" b="1" dirty="0">
                <a:solidFill>
                  <a:srgbClr val="E9A23B"/>
                </a:solidFill>
                <a:latin typeface="Cambria" pitchFamily="34" charset="0"/>
                <a:ea typeface="Cambria" pitchFamily="34" charset="-122"/>
                <a:cs typeface="Cambria" pitchFamily="34" charset="-120"/>
              </a:rPr>
              <a:t>82.29 %</a:t>
            </a:r>
            <a:endParaRPr lang="en-US" sz="2400" dirty="0"/>
          </a:p>
        </p:txBody>
      </p:sp>
      <p:sp>
        <p:nvSpPr>
          <p:cNvPr id="8" name="Text 5"/>
          <p:cNvSpPr txBox="1"/>
          <p:nvPr/>
        </p:nvSpPr>
        <p:spPr>
          <a:xfrm>
            <a:off x="7223760" y="1892808"/>
            <a:ext cx="1554480" cy="365760"/>
          </a:xfrm>
          <a:prstGeom prst="rect">
            <a:avLst/>
          </a:prstGeom>
          <a:noFill/>
          <a:ln/>
        </p:spPr>
        <p:txBody>
          <a:bodyPr wrap="square" lIns="0" tIns="0" rIns="0" bIns="0" rtlCol="0" anchor="t"/>
          <a:lstStyle/>
          <a:p>
            <a:pPr indent="0" marL="0">
              <a:buNone/>
            </a:pPr>
            <a:r>
              <a:rPr lang="en-US" sz="1300" dirty="0">
                <a:solidFill>
                  <a:srgbClr val="CFE3D3"/>
                </a:solidFill>
              </a:rPr>
              <a:t>line coverage</a:t>
            </a:r>
            <a:endParaRPr lang="en-US" sz="1300" dirty="0"/>
          </a:p>
        </p:txBody>
      </p:sp>
      <p:sp>
        <p:nvSpPr>
          <p:cNvPr id="9" name="Text 6"/>
          <p:cNvSpPr txBox="1"/>
          <p:nvPr/>
        </p:nvSpPr>
        <p:spPr>
          <a:xfrm>
            <a:off x="5577840" y="2468880"/>
            <a:ext cx="1645920" cy="502920"/>
          </a:xfrm>
          <a:prstGeom prst="rect">
            <a:avLst/>
          </a:prstGeom>
          <a:noFill/>
          <a:ln/>
        </p:spPr>
        <p:txBody>
          <a:bodyPr wrap="square" lIns="0" tIns="0" rIns="0" bIns="0" rtlCol="0" anchor="t"/>
          <a:lstStyle/>
          <a:p>
            <a:pPr indent="0" marL="0">
              <a:buNone/>
            </a:pPr>
            <a:r>
              <a:rPr lang="en-US" sz="2400" b="1" dirty="0">
                <a:solidFill>
                  <a:srgbClr val="E9A23B"/>
                </a:solidFill>
                <a:latin typeface="Cambria" pitchFamily="34" charset="0"/>
                <a:ea typeface="Cambria" pitchFamily="34" charset="-122"/>
                <a:cs typeface="Cambria" pitchFamily="34" charset="-120"/>
              </a:rPr>
              <a:t>5 / 5</a:t>
            </a:r>
            <a:endParaRPr lang="en-US" sz="2400" dirty="0"/>
          </a:p>
        </p:txBody>
      </p:sp>
      <p:sp>
        <p:nvSpPr>
          <p:cNvPr id="10" name="Text 7"/>
          <p:cNvSpPr txBox="1"/>
          <p:nvPr/>
        </p:nvSpPr>
        <p:spPr>
          <a:xfrm>
            <a:off x="7223760" y="2578608"/>
            <a:ext cx="1554480" cy="365760"/>
          </a:xfrm>
          <a:prstGeom prst="rect">
            <a:avLst/>
          </a:prstGeom>
          <a:noFill/>
          <a:ln/>
        </p:spPr>
        <p:txBody>
          <a:bodyPr wrap="square" lIns="0" tIns="0" rIns="0" bIns="0" rtlCol="0" anchor="t"/>
          <a:lstStyle/>
          <a:p>
            <a:pPr indent="0" marL="0">
              <a:buNone/>
            </a:pPr>
            <a:r>
              <a:rPr lang="en-US" sz="1300" dirty="0">
                <a:solidFill>
                  <a:srgbClr val="CFE3D3"/>
                </a:solidFill>
              </a:rPr>
              <a:t>defects fixed</a:t>
            </a:r>
            <a:endParaRPr lang="en-US" sz="1300" dirty="0"/>
          </a:p>
        </p:txBody>
      </p:sp>
      <p:sp>
        <p:nvSpPr>
          <p:cNvPr id="11" name="Text 8"/>
          <p:cNvSpPr txBox="1"/>
          <p:nvPr/>
        </p:nvSpPr>
        <p:spPr>
          <a:xfrm>
            <a:off x="548640" y="3429000"/>
            <a:ext cx="8046720" cy="731520"/>
          </a:xfrm>
          <a:prstGeom prst="rect">
            <a:avLst/>
          </a:prstGeom>
          <a:noFill/>
          <a:ln/>
        </p:spPr>
        <p:txBody>
          <a:bodyPr wrap="square" lIns="0" tIns="0" rIns="0" bIns="0" rtlCol="0" anchor="t"/>
          <a:lstStyle/>
          <a:p>
            <a:pPr indent="0" marL="0">
              <a:buNone/>
            </a:pPr>
            <a:r>
              <a:rPr lang="en-US" sz="1900" i="1" dirty="0">
                <a:solidFill>
                  <a:srgbClr val="FFFFFF"/>
                </a:solidFill>
              </a:rPr>
              <a:t>ISO 9000 does not test the software: it asks us to prove quality with evidence.</a:t>
            </a:r>
            <a:endParaRPr lang="en-US" sz="1900" dirty="0"/>
          </a:p>
        </p:txBody>
      </p:sp>
      <p:sp>
        <p:nvSpPr>
          <p:cNvPr id="12" name="Text 9"/>
          <p:cNvSpPr txBox="1"/>
          <p:nvPr/>
        </p:nvSpPr>
        <p:spPr>
          <a:xfrm>
            <a:off x="5486400" y="4343400"/>
            <a:ext cx="3291840" cy="411480"/>
          </a:xfrm>
          <a:prstGeom prst="rect">
            <a:avLst/>
          </a:prstGeom>
          <a:noFill/>
          <a:ln/>
        </p:spPr>
        <p:txBody>
          <a:bodyPr wrap="square" lIns="0" tIns="0" rIns="0" bIns="0" rtlCol="0" anchor="t"/>
          <a:lstStyle/>
          <a:p>
            <a:pPr algn="r" indent="0" marL="0">
              <a:buNone/>
            </a:pPr>
            <a:r>
              <a:rPr lang="en-US" sz="1800" b="1" dirty="0">
                <a:solidFill>
                  <a:srgbClr val="7FB069"/>
                </a:solidFill>
              </a:rPr>
              <a:t>Thank you for watching</a:t>
            </a:r>
            <a:endParaRPr lang="en-US" sz="1800" dirty="0"/>
          </a:p>
        </p:txBody>
      </p:sp>
      <p:sp>
        <p:nvSpPr>
          <p:cNvPr id="14" name="Text 0"/>
          <p:cNvSpPr/>
          <p:nvPr>
            <p:ph idx="100" type="title" hasCustomPrompt="1"/>
          </p:nvPr>
        </p:nvSpPr>
        <p:spPr>
          <a:xfrm>
            <a:off x="548640" y="1097280"/>
            <a:ext cx="8046720" cy="1371600"/>
          </a:xfrm>
          <a:prstGeom prst="rect">
            <a:avLst/>
          </a:prstGeom>
          <a:noFill/>
          <a:ln/>
        </p:spPr>
        <p:txBody>
          <a:bodyPr wrap="square" rtlCol="0" anchor="b"/>
          <a:lstStyle/>
          <a:p>
            <a:pPr indent="0" marL="0">
              <a:buNone/>
            </a:pP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 Guide 7 - EcoRecicla (video)</dc:title>
  <dc:subject>PptxGenJS Presentation</dc:subject>
  <dc:creator>Samuel Ossa Escobar y David Alejandro Zambrano Arguello</dc:creator>
  <cp:lastModifiedBy>Samuel Ossa Escobar y David Alejandro Zambrano Arguello</cp:lastModifiedBy>
  <cp:revision>1</cp:revision>
  <dcterms:created xsi:type="dcterms:W3CDTF">2026-10-25T16:42:57Z</dcterms:created>
  <dcterms:modified xsi:type="dcterms:W3CDTF">2026-10-25T16:42:57Z</dcterms:modified>
</cp:coreProperties>
</file>